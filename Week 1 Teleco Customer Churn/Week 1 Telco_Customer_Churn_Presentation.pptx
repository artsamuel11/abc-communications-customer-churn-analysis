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7" r:id="rId2"/>
    <p:sldId id="258" r:id="rId3"/>
    <p:sldId id="274" r:id="rId4"/>
    <p:sldId id="273" r:id="rId5"/>
    <p:sldId id="261" r:id="rId6"/>
    <p:sldId id="267" r:id="rId7"/>
    <p:sldId id="268" r:id="rId8"/>
    <p:sldId id="269" r:id="rId9"/>
    <p:sldId id="270" r:id="rId10"/>
    <p:sldId id="262" r:id="rId11"/>
    <p:sldId id="271" r:id="rId12"/>
    <p:sldId id="275" r:id="rId13"/>
    <p:sldId id="272" r:id="rId14"/>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6B7C"/>
    <a:srgbClr val="14262A"/>
    <a:srgbClr val="26464E"/>
    <a:srgbClr val="5099AA"/>
    <a:srgbClr val="EDE8E0"/>
    <a:srgbClr val="6F8D91"/>
    <a:srgbClr val="F5F1EB"/>
    <a:srgbClr val="315258"/>
    <a:srgbClr val="4B6B70"/>
    <a:srgbClr val="D8EB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049" autoAdjust="0"/>
  </p:normalViewPr>
  <p:slideViewPr>
    <p:cSldViewPr snapToGrid="0">
      <p:cViewPr varScale="1">
        <p:scale>
          <a:sx n="54" d="100"/>
          <a:sy n="54" d="100"/>
        </p:scale>
        <p:origin x="618" y="7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3" d="100"/>
          <a:sy n="53" d="100"/>
        </p:scale>
        <p:origin x="2648" y="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D3965-D187-49EF-ACF7-12E375274243}" type="datetimeFigureOut">
              <a:rPr lang="en-US" smtClean="0"/>
              <a:t>8/8/2026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BB478E-BF31-45CD-8340-46142CA220D4}" type="slidenum">
              <a:rPr lang="en-US" smtClean="0"/>
              <a:t>‹#›</a:t>
            </a:fld>
            <a:endParaRPr lang="en-US"/>
          </a:p>
        </p:txBody>
      </p:sp>
    </p:spTree>
    <p:extLst>
      <p:ext uri="{BB962C8B-B14F-4D97-AF65-F5344CB8AC3E}">
        <p14:creationId xmlns:p14="http://schemas.microsoft.com/office/powerpoint/2010/main" val="3865989418"/>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32000" y="1496484"/>
            <a:ext cx="121920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2032000" y="4802717"/>
            <a:ext cx="12192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0FFAB3-A335-4529-AFC3-B463D2B06511}"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445128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0FFAB3-A335-4529-AFC3-B463D2B06511}"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20226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9133" y="2279652"/>
            <a:ext cx="140208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1109133" y="6119285"/>
            <a:ext cx="14020800" cy="2000249"/>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0FFAB3-A335-4529-AFC3-B463D2B06511}"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125244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0FFAB3-A335-4529-AFC3-B463D2B06511}"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3362940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19717" y="486834"/>
            <a:ext cx="140208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19718" y="2241551"/>
            <a:ext cx="6877049"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1119718"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229600" y="2241551"/>
            <a:ext cx="691091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8229600"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0FFAB3-A335-4529-AFC3-B463D2B06511}" type="datetimeFigureOut">
              <a:rPr lang="en-US" smtClean="0"/>
              <a:t>8/8/2026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1171580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0FFAB3-A335-4529-AFC3-B463D2B06511}" type="datetimeFigureOut">
              <a:rPr lang="en-US" smtClean="0"/>
              <a:t>8/8/2026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233719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0FFAB3-A335-4529-AFC3-B463D2B06511}" type="datetimeFigureOut">
              <a:rPr lang="en-US" smtClean="0"/>
              <a:t>8/8/2026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3266077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6910917" y="1316567"/>
            <a:ext cx="82296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590FFAB3-A335-4529-AFC3-B463D2B06511}"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520243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9718" y="609600"/>
            <a:ext cx="5242983"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6910917" y="1316567"/>
            <a:ext cx="82296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1119718" y="2743200"/>
            <a:ext cx="5242983"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590FFAB3-A335-4529-AFC3-B463D2B06511}"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381509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0FFAB3-A335-4529-AFC3-B463D2B06511}"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1917978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633200" y="486834"/>
            <a:ext cx="35052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0FFAB3-A335-4529-AFC3-B463D2B06511}"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2243FC-ADAE-4B98-88EB-D9784D386B4C}" type="slidenum">
              <a:rPr lang="en-US" smtClean="0"/>
              <a:t>‹#›</a:t>
            </a:fld>
            <a:endParaRPr lang="en-US"/>
          </a:p>
        </p:txBody>
      </p:sp>
    </p:spTree>
    <p:extLst>
      <p:ext uri="{BB962C8B-B14F-4D97-AF65-F5344CB8AC3E}">
        <p14:creationId xmlns:p14="http://schemas.microsoft.com/office/powerpoint/2010/main" val="415543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3908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600" y="8475134"/>
            <a:ext cx="3657600" cy="486833"/>
          </a:xfrm>
          <a:prstGeom prst="rect">
            <a:avLst/>
          </a:prstGeom>
        </p:spPr>
        <p:txBody>
          <a:bodyPr vert="horz" lIns="91440" tIns="45720" rIns="91440" bIns="45720" rtlCol="0" anchor="ctr"/>
          <a:lstStyle>
            <a:lvl1pPr algn="l">
              <a:defRPr sz="1600">
                <a:solidFill>
                  <a:schemeClr val="tx1">
                    <a:tint val="82000"/>
                  </a:schemeClr>
                </a:solidFill>
              </a:defRPr>
            </a:lvl1pPr>
          </a:lstStyle>
          <a:p>
            <a:fld id="{590FFAB3-A335-4529-AFC3-B463D2B06511}" type="datetimeFigureOut">
              <a:rPr lang="en-US" smtClean="0"/>
              <a:t>8/8/2026</a:t>
            </a:fld>
            <a:endParaRPr lang="en-US"/>
          </a:p>
        </p:txBody>
      </p:sp>
      <p:sp>
        <p:nvSpPr>
          <p:cNvPr id="5" name="Footer Placeholder 4"/>
          <p:cNvSpPr>
            <a:spLocks noGrp="1"/>
          </p:cNvSpPr>
          <p:nvPr>
            <p:ph type="ftr" sz="quarter" idx="3"/>
          </p:nvPr>
        </p:nvSpPr>
        <p:spPr>
          <a:xfrm>
            <a:off x="5384800" y="8475134"/>
            <a:ext cx="5486400" cy="486833"/>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1480800" y="8475134"/>
            <a:ext cx="3657600" cy="486833"/>
          </a:xfrm>
          <a:prstGeom prst="rect">
            <a:avLst/>
          </a:prstGeom>
        </p:spPr>
        <p:txBody>
          <a:bodyPr vert="horz" lIns="91440" tIns="45720" rIns="91440" bIns="45720" rtlCol="0" anchor="ctr"/>
          <a:lstStyle>
            <a:lvl1pPr algn="r">
              <a:defRPr sz="1600">
                <a:solidFill>
                  <a:schemeClr val="tx1">
                    <a:tint val="82000"/>
                  </a:schemeClr>
                </a:solidFill>
              </a:defRPr>
            </a:lvl1pPr>
          </a:lstStyle>
          <a:p>
            <a:fld id="{862243FC-ADAE-4B98-88EB-D9784D386B4C}" type="slidenum">
              <a:rPr lang="en-US" smtClean="0"/>
              <a:t>‹#›</a:t>
            </a:fld>
            <a:endParaRPr lang="en-US"/>
          </a:p>
        </p:txBody>
      </p:sp>
    </p:spTree>
    <p:extLst>
      <p:ext uri="{BB962C8B-B14F-4D97-AF65-F5344CB8AC3E}">
        <p14:creationId xmlns:p14="http://schemas.microsoft.com/office/powerpoint/2010/main" val="3025664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25984-9AC4-8A99-7272-DCFB945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BD6418C3-3E3D-F973-0F8E-BCF2BBB5AD8B}"/>
              </a:ext>
            </a:extLst>
          </p:cNvPr>
          <p:cNvSpPr/>
          <p:nvPr/>
        </p:nvSpPr>
        <p:spPr>
          <a:xfrm>
            <a:off x="0" y="0"/>
            <a:ext cx="16242888"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0" name="Rectangle 9">
            <a:extLst>
              <a:ext uri="{FF2B5EF4-FFF2-40B4-BE49-F238E27FC236}">
                <a16:creationId xmlns:a16="http://schemas.microsoft.com/office/drawing/2014/main" id="{1209BBD8-3BDC-4A36-C248-B7D83467B8FF}"/>
              </a:ext>
            </a:extLst>
          </p:cNvPr>
          <p:cNvSpPr/>
          <p:nvPr/>
        </p:nvSpPr>
        <p:spPr>
          <a:xfrm rot="5400000" flipV="1">
            <a:off x="2760532" y="3572814"/>
            <a:ext cx="1015665" cy="135929"/>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B062269-4350-A6D6-241C-45D9BBB5B66D}"/>
              </a:ext>
            </a:extLst>
          </p:cNvPr>
          <p:cNvSpPr/>
          <p:nvPr/>
        </p:nvSpPr>
        <p:spPr>
          <a:xfrm>
            <a:off x="6990182" y="4875305"/>
            <a:ext cx="1901952" cy="9144"/>
          </a:xfrm>
          <a:prstGeom prst="rect">
            <a:avLst/>
          </a:prstGeom>
          <a:solidFill>
            <a:schemeClr val="bg1">
              <a:lumMod val="85000"/>
              <a:alpha val="3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 3">
            <a:extLst>
              <a:ext uri="{FF2B5EF4-FFF2-40B4-BE49-F238E27FC236}">
                <a16:creationId xmlns:a16="http://schemas.microsoft.com/office/drawing/2014/main" id="{9BBD9423-A8CC-A0E7-94C9-EABE780BC85C}"/>
              </a:ext>
            </a:extLst>
          </p:cNvPr>
          <p:cNvSpPr/>
          <p:nvPr/>
        </p:nvSpPr>
        <p:spPr>
          <a:xfrm>
            <a:off x="822960" y="1554480"/>
            <a:ext cx="14043800" cy="725475"/>
          </a:xfrm>
          <a:prstGeom prst="rect">
            <a:avLst/>
          </a:prstGeom>
          <a:noFill/>
          <a:ln/>
        </p:spPr>
        <p:txBody>
          <a:bodyPr wrap="square" lIns="0" tIns="0" rIns="0" bIns="0" rtlCol="0" anchor="ctr"/>
          <a:lstStyle/>
          <a:p>
            <a:pPr marL="0" indent="0">
              <a:buNone/>
            </a:pPr>
            <a:r>
              <a:rPr lang="en-US" b="1" kern="0" spc="300" dirty="0">
                <a:solidFill>
                  <a:srgbClr val="CADCFC"/>
                </a:solidFill>
                <a:latin typeface="Calibri" pitchFamily="34" charset="0"/>
                <a:ea typeface="Calibri" pitchFamily="34" charset="-122"/>
                <a:cs typeface="Calibri" pitchFamily="34" charset="-120"/>
              </a:rPr>
              <a:t>BUSINESS ANALYTICS CASE STUDY</a:t>
            </a:r>
            <a:endParaRPr lang="en-US" dirty="0"/>
          </a:p>
        </p:txBody>
      </p:sp>
      <p:sp>
        <p:nvSpPr>
          <p:cNvPr id="42" name="Text 4">
            <a:extLst>
              <a:ext uri="{FF2B5EF4-FFF2-40B4-BE49-F238E27FC236}">
                <a16:creationId xmlns:a16="http://schemas.microsoft.com/office/drawing/2014/main" id="{B5148CF1-19B2-2843-D58A-F902E5DFFF04}"/>
              </a:ext>
            </a:extLst>
          </p:cNvPr>
          <p:cNvSpPr/>
          <p:nvPr/>
        </p:nvSpPr>
        <p:spPr>
          <a:xfrm>
            <a:off x="822960" y="2011680"/>
            <a:ext cx="14745990" cy="4490384"/>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Customer Behaviour &amp; </a:t>
            </a:r>
          </a:p>
          <a:p>
            <a:pPr marL="0" indent="0">
              <a:lnSpc>
                <a:spcPct val="105000"/>
              </a:lnSpc>
              <a:buNone/>
            </a:pPr>
            <a:r>
              <a:rPr lang="en-US" sz="4400" b="1" dirty="0" err="1">
                <a:solidFill>
                  <a:srgbClr val="FFFFFF"/>
                </a:solidFill>
                <a:latin typeface="Cambria" pitchFamily="34" charset="0"/>
                <a:ea typeface="Cambria" pitchFamily="34" charset="-122"/>
                <a:cs typeface="Cambria" pitchFamily="34" charset="-120"/>
              </a:rPr>
              <a:t>BusinessPerformance</a:t>
            </a:r>
            <a:r>
              <a:rPr lang="en-US" sz="4400" b="1" dirty="0">
                <a:solidFill>
                  <a:srgbClr val="FFFFFF"/>
                </a:solidFill>
                <a:latin typeface="Cambria" pitchFamily="34" charset="0"/>
                <a:ea typeface="Cambria" pitchFamily="34" charset="-122"/>
                <a:cs typeface="Cambria" pitchFamily="34" charset="-120"/>
              </a:rPr>
              <a:t> Analysis</a:t>
            </a:r>
            <a:endParaRPr lang="en-US" sz="4400" dirty="0"/>
          </a:p>
        </p:txBody>
      </p:sp>
      <p:sp>
        <p:nvSpPr>
          <p:cNvPr id="44" name="Text 5">
            <a:extLst>
              <a:ext uri="{FF2B5EF4-FFF2-40B4-BE49-F238E27FC236}">
                <a16:creationId xmlns:a16="http://schemas.microsoft.com/office/drawing/2014/main" id="{1BA2ACB0-7C96-AC08-CE5C-7CC3B5FDB42F}"/>
              </a:ext>
            </a:extLst>
          </p:cNvPr>
          <p:cNvSpPr/>
          <p:nvPr/>
        </p:nvSpPr>
        <p:spPr>
          <a:xfrm>
            <a:off x="822960" y="2279955"/>
            <a:ext cx="13502975" cy="997377"/>
          </a:xfrm>
          <a:prstGeom prst="rect">
            <a:avLst/>
          </a:prstGeom>
          <a:noFill/>
          <a:ln/>
        </p:spPr>
        <p:txBody>
          <a:bodyPr wrap="square" lIns="0" tIns="0" rIns="0" bIns="0" rtlCol="0" anchor="ctr"/>
          <a:lstStyle/>
          <a:p>
            <a:pPr marL="0" indent="0">
              <a:buNone/>
            </a:pPr>
            <a:r>
              <a:rPr lang="en-US" i="1" dirty="0">
                <a:solidFill>
                  <a:srgbClr val="CADCFC"/>
                </a:solidFill>
                <a:latin typeface="Calibri" pitchFamily="34" charset="0"/>
                <a:ea typeface="Calibri" pitchFamily="34" charset="-122"/>
                <a:cs typeface="Calibri" pitchFamily="34" charset="-120"/>
              </a:rPr>
              <a:t>Investigating customer churn for ABC Communications Ltd</a:t>
            </a:r>
            <a:endParaRPr lang="en-US" dirty="0"/>
          </a:p>
        </p:txBody>
      </p:sp>
      <p:sp>
        <p:nvSpPr>
          <p:cNvPr id="46" name="Text 6">
            <a:extLst>
              <a:ext uri="{FF2B5EF4-FFF2-40B4-BE49-F238E27FC236}">
                <a16:creationId xmlns:a16="http://schemas.microsoft.com/office/drawing/2014/main" id="{FB305D76-F6D8-5C8D-2794-A92C6A84B2A1}"/>
              </a:ext>
            </a:extLst>
          </p:cNvPr>
          <p:cNvSpPr/>
          <p:nvPr/>
        </p:nvSpPr>
        <p:spPr>
          <a:xfrm>
            <a:off x="822960" y="5350793"/>
            <a:ext cx="12639420" cy="511191"/>
          </a:xfrm>
          <a:prstGeom prst="rect">
            <a:avLst/>
          </a:prstGeom>
          <a:noFill/>
          <a:ln/>
        </p:spPr>
        <p:txBody>
          <a:bodyPr wrap="square" lIns="0" tIns="0" rIns="0" bIns="0" rtlCol="0" anchor="ctr"/>
          <a:lstStyle/>
          <a:p>
            <a:pPr marL="0" indent="0">
              <a:buNone/>
            </a:pPr>
            <a:r>
              <a:rPr lang="en-US" b="1" dirty="0">
                <a:solidFill>
                  <a:srgbClr val="CADCFC"/>
                </a:solidFill>
                <a:latin typeface="Calibri" pitchFamily="34" charset="0"/>
                <a:ea typeface="Calibri" pitchFamily="34" charset="-122"/>
                <a:cs typeface="Calibri" pitchFamily="34" charset="-120"/>
              </a:rPr>
              <a:t>Prepared by: </a:t>
            </a:r>
            <a:r>
              <a:rPr lang="en-US" b="1" dirty="0">
                <a:solidFill>
                  <a:srgbClr val="FFFFFF"/>
                </a:solidFill>
                <a:latin typeface="Calibri" pitchFamily="34" charset="0"/>
                <a:ea typeface="Calibri" pitchFamily="34" charset="-122"/>
                <a:cs typeface="Calibri" pitchFamily="34" charset="-120"/>
              </a:rPr>
              <a:t>Samuel Arthur</a:t>
            </a:r>
            <a:endParaRPr lang="en-US" dirty="0">
              <a:solidFill>
                <a:srgbClr val="FFFFFF"/>
              </a:solidFill>
              <a:latin typeface="Calibri" pitchFamily="34" charset="0"/>
              <a:ea typeface="Calibri" pitchFamily="34" charset="-122"/>
              <a:cs typeface="Calibri" pitchFamily="34" charset="-120"/>
            </a:endParaRPr>
          </a:p>
        </p:txBody>
      </p:sp>
      <p:sp>
        <p:nvSpPr>
          <p:cNvPr id="48" name="Text 7">
            <a:extLst>
              <a:ext uri="{FF2B5EF4-FFF2-40B4-BE49-F238E27FC236}">
                <a16:creationId xmlns:a16="http://schemas.microsoft.com/office/drawing/2014/main" id="{8B71975F-7C54-398C-F224-4873F594E1C4}"/>
              </a:ext>
            </a:extLst>
          </p:cNvPr>
          <p:cNvSpPr/>
          <p:nvPr/>
        </p:nvSpPr>
        <p:spPr>
          <a:xfrm>
            <a:off x="822960" y="5524529"/>
            <a:ext cx="12639420" cy="2229762"/>
          </a:xfrm>
          <a:prstGeom prst="rect">
            <a:avLst/>
          </a:prstGeom>
          <a:noFill/>
          <a:ln/>
        </p:spPr>
        <p:txBody>
          <a:bodyPr wrap="square" lIns="0" tIns="0" rIns="0" bIns="0" rtlCol="0" anchor="ctr"/>
          <a:lstStyle/>
          <a:p>
            <a:pPr marL="0" indent="0">
              <a:buNone/>
            </a:pPr>
            <a:r>
              <a:rPr lang="en-US" sz="1600" b="1" dirty="0">
                <a:solidFill>
                  <a:srgbClr val="CADCFC"/>
                </a:solidFill>
                <a:latin typeface="Calibri" pitchFamily="34" charset="0"/>
                <a:ea typeface="Calibri" pitchFamily="34" charset="-122"/>
                <a:cs typeface="Calibri" pitchFamily="34" charset="-120"/>
              </a:rPr>
              <a:t>Role: </a:t>
            </a:r>
            <a:r>
              <a:rPr lang="en-US" sz="1600" dirty="0">
                <a:solidFill>
                  <a:srgbClr val="FFFFFF"/>
                </a:solidFill>
                <a:latin typeface="Calibri" pitchFamily="34" charset="0"/>
                <a:ea typeface="Calibri" pitchFamily="34" charset="-122"/>
                <a:cs typeface="Calibri" pitchFamily="34" charset="-120"/>
              </a:rPr>
              <a:t>Junior Data Analyst, AnalystLab Africa Consulting</a:t>
            </a:r>
            <a:endParaRPr lang="en-US" sz="1600" dirty="0"/>
          </a:p>
        </p:txBody>
      </p:sp>
      <p:sp>
        <p:nvSpPr>
          <p:cNvPr id="50" name="Text 8">
            <a:extLst>
              <a:ext uri="{FF2B5EF4-FFF2-40B4-BE49-F238E27FC236}">
                <a16:creationId xmlns:a16="http://schemas.microsoft.com/office/drawing/2014/main" id="{F91092E4-F3FD-0233-234C-D66FA60D814C}"/>
              </a:ext>
            </a:extLst>
          </p:cNvPr>
          <p:cNvSpPr/>
          <p:nvPr/>
        </p:nvSpPr>
        <p:spPr>
          <a:xfrm>
            <a:off x="822960" y="5746584"/>
            <a:ext cx="12639420" cy="755480"/>
          </a:xfrm>
          <a:prstGeom prst="rect">
            <a:avLst/>
          </a:prstGeom>
          <a:noFill/>
          <a:ln/>
        </p:spPr>
        <p:txBody>
          <a:bodyPr wrap="square" lIns="0" tIns="0" rIns="0" bIns="0" rtlCol="0" anchor="ctr"/>
          <a:lstStyle/>
          <a:p>
            <a:pPr marL="0" indent="0">
              <a:buNone/>
            </a:pPr>
            <a:r>
              <a:rPr lang="en-US" sz="1600" b="1" dirty="0">
                <a:solidFill>
                  <a:srgbClr val="CADCFC"/>
                </a:solidFill>
                <a:latin typeface="Calibri" pitchFamily="34" charset="0"/>
                <a:ea typeface="Calibri" pitchFamily="34" charset="-122"/>
                <a:cs typeface="Calibri" pitchFamily="34" charset="-120"/>
              </a:rPr>
              <a:t>Programme: </a:t>
            </a:r>
            <a:r>
              <a:rPr lang="en-US" sz="1600" dirty="0">
                <a:solidFill>
                  <a:srgbClr val="FFFFFF"/>
                </a:solidFill>
                <a:latin typeface="Calibri" pitchFamily="34" charset="0"/>
                <a:ea typeface="Calibri" pitchFamily="34" charset="-122"/>
                <a:cs typeface="Calibri" pitchFamily="34" charset="-120"/>
              </a:rPr>
              <a:t>AnalystLab Africa — Data Analytics Internship, Week 1</a:t>
            </a:r>
            <a:endParaRPr lang="en-US" sz="1600" dirty="0"/>
          </a:p>
        </p:txBody>
      </p:sp>
    </p:spTree>
    <p:extLst>
      <p:ext uri="{BB962C8B-B14F-4D97-AF65-F5344CB8AC3E}">
        <p14:creationId xmlns:p14="http://schemas.microsoft.com/office/powerpoint/2010/main" val="3113590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1547587" y="488549"/>
            <a:ext cx="5591989" cy="707886"/>
          </a:xfrm>
          <a:prstGeom prst="rect">
            <a:avLst/>
          </a:prstGeom>
          <a:noFill/>
        </p:spPr>
        <p:txBody>
          <a:bodyPr wrap="square" rtlCol="0">
            <a:spAutoFit/>
          </a:bodyPr>
          <a:lstStyle/>
          <a:p>
            <a:r>
              <a:rPr lang="en-US" sz="4000" b="1" dirty="0">
                <a:solidFill>
                  <a:srgbClr val="14262A"/>
                </a:solidFill>
                <a:latin typeface="Amasis MT Pro Light" panose="02040304050005020304" pitchFamily="18" charset="0"/>
              </a:rPr>
              <a:t>Objectives of the Analysis</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1128290" y="796772"/>
            <a:ext cx="574161" cy="91440"/>
          </a:xfrm>
          <a:prstGeom prst="rect">
            <a:avLst/>
          </a:prstGeom>
          <a:solidFill>
            <a:srgbClr val="5099AA"/>
          </a:solidFill>
          <a:ln>
            <a:noFill/>
          </a:ln>
          <a:effectLst>
            <a:outerShdw blurRad="50800" dist="38100" dir="2700000" algn="tl"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4712859-B3C8-9EB2-72A5-DC86D0347146}"/>
              </a:ext>
            </a:extLst>
          </p:cNvPr>
          <p:cNvSpPr/>
          <p:nvPr/>
        </p:nvSpPr>
        <p:spPr>
          <a:xfrm rot="5400000" flipV="1">
            <a:off x="9932408" y="3791461"/>
            <a:ext cx="3271379" cy="6689127"/>
          </a:xfrm>
          <a:prstGeom prst="rect">
            <a:avLst/>
          </a:prstGeom>
          <a:solidFill>
            <a:srgbClr val="EDE8E0"/>
          </a:solidFill>
          <a:ln>
            <a:noFill/>
          </a:ln>
          <a:effectLst>
            <a:outerShdw blurRad="50800" dist="38100" dir="2700000" algn="tl" rotWithShape="0">
              <a:prstClr val="black">
                <a:alpha val="2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E9B6DF-35F7-A19D-B92B-667FB85288F8}"/>
              </a:ext>
            </a:extLst>
          </p:cNvPr>
          <p:cNvSpPr/>
          <p:nvPr/>
        </p:nvSpPr>
        <p:spPr>
          <a:xfrm rot="5400000" flipV="1">
            <a:off x="3078525" y="3791462"/>
            <a:ext cx="3271379" cy="6689126"/>
          </a:xfrm>
          <a:prstGeom prst="rect">
            <a:avLst/>
          </a:prstGeom>
          <a:solidFill>
            <a:srgbClr val="EDE8E0"/>
          </a:solidFill>
          <a:ln>
            <a:noFill/>
          </a:ln>
          <a:effectLst>
            <a:outerShdw blurRad="50800" dist="38100" dir="2700000" algn="tl" rotWithShape="0">
              <a:prstClr val="black">
                <a:alpha val="2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3FFF210-731C-70B4-A0F3-2603E13BEE77}"/>
              </a:ext>
            </a:extLst>
          </p:cNvPr>
          <p:cNvSpPr/>
          <p:nvPr/>
        </p:nvSpPr>
        <p:spPr>
          <a:xfrm rot="5400000" flipV="1">
            <a:off x="3078525" y="331493"/>
            <a:ext cx="3271379" cy="6689126"/>
          </a:xfrm>
          <a:prstGeom prst="rect">
            <a:avLst/>
          </a:prstGeom>
          <a:solidFill>
            <a:srgbClr val="EDE8E0"/>
          </a:solidFill>
          <a:ln>
            <a:noFill/>
          </a:ln>
          <a:effectLst>
            <a:outerShdw blurRad="50800" dist="38100" dir="2700000" algn="tl" rotWithShape="0">
              <a:prstClr val="black">
                <a:alpha val="2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3AA26F4-ACBB-E97B-66FF-442652D76522}"/>
              </a:ext>
            </a:extLst>
          </p:cNvPr>
          <p:cNvSpPr/>
          <p:nvPr/>
        </p:nvSpPr>
        <p:spPr>
          <a:xfrm rot="5400000" flipV="1">
            <a:off x="9932409" y="331493"/>
            <a:ext cx="3271379" cy="6689126"/>
          </a:xfrm>
          <a:prstGeom prst="rect">
            <a:avLst/>
          </a:prstGeom>
          <a:solidFill>
            <a:srgbClr val="EDE8E0"/>
          </a:solidFill>
          <a:ln>
            <a:noFill/>
          </a:ln>
          <a:effectLst>
            <a:outerShdw blurRad="50800" dist="38100" dir="2700000" algn="tl" rotWithShape="0">
              <a:prstClr val="black">
                <a:alpha val="29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9694C94C-EBB2-8236-3C86-39AF73F28A7F}"/>
              </a:ext>
            </a:extLst>
          </p:cNvPr>
          <p:cNvSpPr txBox="1"/>
          <p:nvPr/>
        </p:nvSpPr>
        <p:spPr>
          <a:xfrm>
            <a:off x="1678576" y="2251036"/>
            <a:ext cx="1050320" cy="954107"/>
          </a:xfrm>
          <a:prstGeom prst="rect">
            <a:avLst/>
          </a:prstGeom>
          <a:noFill/>
        </p:spPr>
        <p:txBody>
          <a:bodyPr wrap="square" rtlCol="0">
            <a:spAutoFit/>
          </a:bodyPr>
          <a:lstStyle/>
          <a:p>
            <a:r>
              <a:rPr lang="en-US" sz="5600" b="1" dirty="0">
                <a:solidFill>
                  <a:srgbClr val="5099AA"/>
                </a:solidFill>
                <a:latin typeface="Oranienbaum" panose="02000506080000020003" pitchFamily="2" charset="0"/>
              </a:rPr>
              <a:t>01.</a:t>
            </a:r>
          </a:p>
        </p:txBody>
      </p:sp>
      <p:sp>
        <p:nvSpPr>
          <p:cNvPr id="18" name="TextBox 17">
            <a:extLst>
              <a:ext uri="{FF2B5EF4-FFF2-40B4-BE49-F238E27FC236}">
                <a16:creationId xmlns:a16="http://schemas.microsoft.com/office/drawing/2014/main" id="{C218B734-8DC8-FB91-9B8D-FEDC18ED89BE}"/>
              </a:ext>
            </a:extLst>
          </p:cNvPr>
          <p:cNvSpPr txBox="1"/>
          <p:nvPr/>
        </p:nvSpPr>
        <p:spPr>
          <a:xfrm>
            <a:off x="1888639" y="3245169"/>
            <a:ext cx="2872251" cy="430887"/>
          </a:xfrm>
          <a:prstGeom prst="rect">
            <a:avLst/>
          </a:prstGeom>
          <a:noFill/>
        </p:spPr>
        <p:txBody>
          <a:bodyPr wrap="square" rtlCol="0">
            <a:spAutoFit/>
          </a:bodyPr>
          <a:lstStyle/>
          <a:p>
            <a:r>
              <a:rPr lang="en-US" sz="2200" b="1" dirty="0">
                <a:solidFill>
                  <a:srgbClr val="14262A"/>
                </a:solidFill>
                <a:latin typeface="Amasis MT Pro Light" panose="02040304050005020304" pitchFamily="18" charset="0"/>
              </a:rPr>
              <a:t>Understanding the data</a:t>
            </a:r>
          </a:p>
        </p:txBody>
      </p:sp>
      <p:sp>
        <p:nvSpPr>
          <p:cNvPr id="20" name="Rectangle 19">
            <a:extLst>
              <a:ext uri="{FF2B5EF4-FFF2-40B4-BE49-F238E27FC236}">
                <a16:creationId xmlns:a16="http://schemas.microsoft.com/office/drawing/2014/main" id="{5EC58646-4FE7-B425-1D22-56EA6C14BC1D}"/>
              </a:ext>
            </a:extLst>
          </p:cNvPr>
          <p:cNvSpPr/>
          <p:nvPr/>
        </p:nvSpPr>
        <p:spPr>
          <a:xfrm rot="5400000" flipV="1">
            <a:off x="1698014" y="3411959"/>
            <a:ext cx="335532" cy="45720"/>
          </a:xfrm>
          <a:prstGeom prst="rect">
            <a:avLst/>
          </a:prstGeom>
          <a:solidFill>
            <a:srgbClr val="5099AA"/>
          </a:solidFill>
          <a:ln>
            <a:noFill/>
          </a:ln>
          <a:effectLst>
            <a:outerShdw blurRad="50800" dist="38100" dir="2700000" algn="tl"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F008EB8-48C5-F2A8-5BDD-5C32E3CB521B}"/>
              </a:ext>
            </a:extLst>
          </p:cNvPr>
          <p:cNvSpPr txBox="1"/>
          <p:nvPr/>
        </p:nvSpPr>
        <p:spPr>
          <a:xfrm>
            <a:off x="8521470" y="2251036"/>
            <a:ext cx="1050320" cy="954107"/>
          </a:xfrm>
          <a:prstGeom prst="rect">
            <a:avLst/>
          </a:prstGeom>
          <a:noFill/>
        </p:spPr>
        <p:txBody>
          <a:bodyPr wrap="square" rtlCol="0">
            <a:spAutoFit/>
          </a:bodyPr>
          <a:lstStyle/>
          <a:p>
            <a:r>
              <a:rPr lang="en-US" sz="5600" b="1" dirty="0">
                <a:solidFill>
                  <a:srgbClr val="5099AA"/>
                </a:solidFill>
                <a:latin typeface="Oranienbaum" panose="02000506080000020003" pitchFamily="2" charset="0"/>
              </a:rPr>
              <a:t>02.</a:t>
            </a:r>
          </a:p>
        </p:txBody>
      </p:sp>
      <p:sp>
        <p:nvSpPr>
          <p:cNvPr id="23" name="TextBox 22">
            <a:extLst>
              <a:ext uri="{FF2B5EF4-FFF2-40B4-BE49-F238E27FC236}">
                <a16:creationId xmlns:a16="http://schemas.microsoft.com/office/drawing/2014/main" id="{A13D6BD2-E1FA-4F10-39D5-2D667FBA8D0C}"/>
              </a:ext>
            </a:extLst>
          </p:cNvPr>
          <p:cNvSpPr txBox="1"/>
          <p:nvPr/>
        </p:nvSpPr>
        <p:spPr>
          <a:xfrm>
            <a:off x="8731533" y="3245169"/>
            <a:ext cx="4392795" cy="461665"/>
          </a:xfrm>
          <a:prstGeom prst="rect">
            <a:avLst/>
          </a:prstGeom>
          <a:noFill/>
        </p:spPr>
        <p:txBody>
          <a:bodyPr wrap="square" rtlCol="0">
            <a:spAutoFit/>
          </a:bodyPr>
          <a:lstStyle/>
          <a:p>
            <a:r>
              <a:rPr lang="en-US" sz="2400" dirty="0"/>
              <a:t>Analyze Customer Segments</a:t>
            </a:r>
            <a:endParaRPr lang="en-US" sz="2200" b="1" dirty="0">
              <a:solidFill>
                <a:srgbClr val="14262A"/>
              </a:solidFill>
              <a:latin typeface="Amasis MT Pro Light" panose="02040304050005020304" pitchFamily="18" charset="0"/>
            </a:endParaRPr>
          </a:p>
        </p:txBody>
      </p:sp>
      <p:sp>
        <p:nvSpPr>
          <p:cNvPr id="24" name="Rectangle 23">
            <a:extLst>
              <a:ext uri="{FF2B5EF4-FFF2-40B4-BE49-F238E27FC236}">
                <a16:creationId xmlns:a16="http://schemas.microsoft.com/office/drawing/2014/main" id="{E39546EC-CE09-54DA-E9D0-B4BF3ED177F3}"/>
              </a:ext>
            </a:extLst>
          </p:cNvPr>
          <p:cNvSpPr/>
          <p:nvPr/>
        </p:nvSpPr>
        <p:spPr>
          <a:xfrm rot="5400000" flipV="1">
            <a:off x="8540908" y="3411959"/>
            <a:ext cx="335532" cy="45720"/>
          </a:xfrm>
          <a:prstGeom prst="rect">
            <a:avLst/>
          </a:prstGeom>
          <a:solidFill>
            <a:srgbClr val="5099AA"/>
          </a:solidFill>
          <a:ln>
            <a:noFill/>
          </a:ln>
          <a:effectLst>
            <a:outerShdw blurRad="50800" dist="38100" dir="2700000" algn="tl"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43831DA-468D-C411-5225-BD4BEA6B6989}"/>
              </a:ext>
            </a:extLst>
          </p:cNvPr>
          <p:cNvSpPr txBox="1"/>
          <p:nvPr/>
        </p:nvSpPr>
        <p:spPr>
          <a:xfrm>
            <a:off x="1678576" y="5657679"/>
            <a:ext cx="1050320" cy="954107"/>
          </a:xfrm>
          <a:prstGeom prst="rect">
            <a:avLst/>
          </a:prstGeom>
          <a:noFill/>
        </p:spPr>
        <p:txBody>
          <a:bodyPr wrap="square" rtlCol="0">
            <a:spAutoFit/>
          </a:bodyPr>
          <a:lstStyle/>
          <a:p>
            <a:r>
              <a:rPr lang="en-US" sz="5600" b="1" dirty="0">
                <a:solidFill>
                  <a:srgbClr val="5099AA"/>
                </a:solidFill>
                <a:latin typeface="Oranienbaum" panose="02000506080000020003" pitchFamily="2" charset="0"/>
              </a:rPr>
              <a:t>03.</a:t>
            </a:r>
          </a:p>
        </p:txBody>
      </p:sp>
      <p:sp>
        <p:nvSpPr>
          <p:cNvPr id="26" name="TextBox 25">
            <a:extLst>
              <a:ext uri="{FF2B5EF4-FFF2-40B4-BE49-F238E27FC236}">
                <a16:creationId xmlns:a16="http://schemas.microsoft.com/office/drawing/2014/main" id="{078FECD2-3348-945D-1AF1-BF11668E8614}"/>
              </a:ext>
            </a:extLst>
          </p:cNvPr>
          <p:cNvSpPr txBox="1"/>
          <p:nvPr/>
        </p:nvSpPr>
        <p:spPr>
          <a:xfrm>
            <a:off x="1888640" y="6651812"/>
            <a:ext cx="3239390" cy="461665"/>
          </a:xfrm>
          <a:prstGeom prst="rect">
            <a:avLst/>
          </a:prstGeom>
          <a:noFill/>
        </p:spPr>
        <p:txBody>
          <a:bodyPr wrap="square" rtlCol="0">
            <a:spAutoFit/>
          </a:bodyPr>
          <a:lstStyle/>
          <a:p>
            <a:r>
              <a:rPr lang="en-US" sz="2400" dirty="0"/>
              <a:t>Visualize Key Patterns</a:t>
            </a:r>
            <a:endParaRPr lang="en-US" sz="2200" b="1" dirty="0">
              <a:solidFill>
                <a:srgbClr val="14262A"/>
              </a:solidFill>
              <a:latin typeface="Amasis MT Pro Light" panose="02040304050005020304" pitchFamily="18" charset="0"/>
            </a:endParaRPr>
          </a:p>
        </p:txBody>
      </p:sp>
      <p:sp>
        <p:nvSpPr>
          <p:cNvPr id="27" name="Rectangle 26">
            <a:extLst>
              <a:ext uri="{FF2B5EF4-FFF2-40B4-BE49-F238E27FC236}">
                <a16:creationId xmlns:a16="http://schemas.microsoft.com/office/drawing/2014/main" id="{02D29545-8FB2-8509-3E0B-FA97B8A30636}"/>
              </a:ext>
            </a:extLst>
          </p:cNvPr>
          <p:cNvSpPr/>
          <p:nvPr/>
        </p:nvSpPr>
        <p:spPr>
          <a:xfrm rot="5400000" flipV="1">
            <a:off x="1698014" y="6818602"/>
            <a:ext cx="335532" cy="45720"/>
          </a:xfrm>
          <a:prstGeom prst="rect">
            <a:avLst/>
          </a:prstGeom>
          <a:solidFill>
            <a:srgbClr val="5099AA"/>
          </a:solidFill>
          <a:ln>
            <a:noFill/>
          </a:ln>
          <a:effectLst>
            <a:outerShdw blurRad="50800" dist="38100" dir="2700000" algn="tl"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D453F91-7C10-F9B2-5F4A-9D3E14A912AF}"/>
              </a:ext>
            </a:extLst>
          </p:cNvPr>
          <p:cNvSpPr txBox="1"/>
          <p:nvPr/>
        </p:nvSpPr>
        <p:spPr>
          <a:xfrm>
            <a:off x="8521470" y="5584208"/>
            <a:ext cx="1188994" cy="954107"/>
          </a:xfrm>
          <a:prstGeom prst="rect">
            <a:avLst/>
          </a:prstGeom>
          <a:noFill/>
        </p:spPr>
        <p:txBody>
          <a:bodyPr wrap="square" rtlCol="0">
            <a:spAutoFit/>
          </a:bodyPr>
          <a:lstStyle/>
          <a:p>
            <a:r>
              <a:rPr lang="en-US" sz="5600" b="1" dirty="0">
                <a:solidFill>
                  <a:srgbClr val="5099AA"/>
                </a:solidFill>
                <a:latin typeface="Oranienbaum" panose="02000506080000020003" pitchFamily="2" charset="0"/>
              </a:rPr>
              <a:t>04.</a:t>
            </a:r>
          </a:p>
        </p:txBody>
      </p:sp>
      <p:sp>
        <p:nvSpPr>
          <p:cNvPr id="29" name="TextBox 28">
            <a:extLst>
              <a:ext uri="{FF2B5EF4-FFF2-40B4-BE49-F238E27FC236}">
                <a16:creationId xmlns:a16="http://schemas.microsoft.com/office/drawing/2014/main" id="{A7B81C27-D5CB-8EF2-F759-C5F0A952DBEC}"/>
              </a:ext>
            </a:extLst>
          </p:cNvPr>
          <p:cNvSpPr txBox="1"/>
          <p:nvPr/>
        </p:nvSpPr>
        <p:spPr>
          <a:xfrm>
            <a:off x="8731533" y="6578341"/>
            <a:ext cx="3512065" cy="430887"/>
          </a:xfrm>
          <a:prstGeom prst="rect">
            <a:avLst/>
          </a:prstGeom>
          <a:noFill/>
        </p:spPr>
        <p:txBody>
          <a:bodyPr wrap="square" rtlCol="0">
            <a:spAutoFit/>
          </a:bodyPr>
          <a:lstStyle/>
          <a:p>
            <a:r>
              <a:rPr lang="en-US" sz="2200" b="1" dirty="0">
                <a:solidFill>
                  <a:srgbClr val="14262A"/>
                </a:solidFill>
                <a:latin typeface="Amasis MT Pro Light" panose="02040304050005020304" pitchFamily="18" charset="0"/>
              </a:rPr>
              <a:t>Practical Recommendations</a:t>
            </a:r>
          </a:p>
        </p:txBody>
      </p:sp>
      <p:sp>
        <p:nvSpPr>
          <p:cNvPr id="30" name="Rectangle 29">
            <a:extLst>
              <a:ext uri="{FF2B5EF4-FFF2-40B4-BE49-F238E27FC236}">
                <a16:creationId xmlns:a16="http://schemas.microsoft.com/office/drawing/2014/main" id="{EF47BF9B-4191-0654-9DB8-A7B1ED617718}"/>
              </a:ext>
            </a:extLst>
          </p:cNvPr>
          <p:cNvSpPr/>
          <p:nvPr/>
        </p:nvSpPr>
        <p:spPr>
          <a:xfrm rot="5400000" flipV="1">
            <a:off x="8540908" y="6745131"/>
            <a:ext cx="335532" cy="45720"/>
          </a:xfrm>
          <a:prstGeom prst="rect">
            <a:avLst/>
          </a:prstGeom>
          <a:solidFill>
            <a:srgbClr val="5099AA"/>
          </a:solidFill>
          <a:ln>
            <a:noFill/>
          </a:ln>
          <a:effectLst>
            <a:outerShdw blurRad="50800" dist="38100" dir="2700000" algn="tl"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4DF97408-D2C5-029B-0976-69D947C2C0CC}"/>
              </a:ext>
            </a:extLst>
          </p:cNvPr>
          <p:cNvSpPr txBox="1"/>
          <p:nvPr/>
        </p:nvSpPr>
        <p:spPr>
          <a:xfrm>
            <a:off x="1865780" y="3882715"/>
            <a:ext cx="4862317" cy="706091"/>
          </a:xfrm>
          <a:prstGeom prst="rect">
            <a:avLst/>
          </a:prstGeom>
          <a:noFill/>
        </p:spPr>
        <p:txBody>
          <a:bodyPr wrap="square" rtlCol="0">
            <a:spAutoFit/>
          </a:bodyPr>
          <a:lstStyle/>
          <a:p>
            <a:pPr>
              <a:lnSpc>
                <a:spcPct val="150000"/>
              </a:lnSpc>
            </a:pPr>
            <a:r>
              <a:rPr lang="en-US" sz="1400" dirty="0"/>
              <a:t>Evaluate the structure, completeness, and quality of the customer dataset before drawing any conclusions.</a:t>
            </a:r>
            <a:endParaRPr lang="en-US" sz="1400" dirty="0">
              <a:solidFill>
                <a:srgbClr val="5A6B7C"/>
              </a:solidFill>
              <a:latin typeface="Amasis MT Pro Light" panose="02040304050005020304" pitchFamily="18" charset="0"/>
              <a:ea typeface="Calibri Light" panose="020F0302020204030204" pitchFamily="34" charset="0"/>
              <a:cs typeface="Calibri Light" panose="020F0302020204030204" pitchFamily="34" charset="0"/>
            </a:endParaRPr>
          </a:p>
        </p:txBody>
      </p:sp>
      <p:sp>
        <p:nvSpPr>
          <p:cNvPr id="35" name="TextBox 34">
            <a:extLst>
              <a:ext uri="{FF2B5EF4-FFF2-40B4-BE49-F238E27FC236}">
                <a16:creationId xmlns:a16="http://schemas.microsoft.com/office/drawing/2014/main" id="{9A70C6BF-385B-3B2C-7F1A-54C138958765}"/>
              </a:ext>
            </a:extLst>
          </p:cNvPr>
          <p:cNvSpPr txBox="1"/>
          <p:nvPr/>
        </p:nvSpPr>
        <p:spPr>
          <a:xfrm>
            <a:off x="8731533" y="3882716"/>
            <a:ext cx="5250937" cy="700769"/>
          </a:xfrm>
          <a:prstGeom prst="rect">
            <a:avLst/>
          </a:prstGeom>
          <a:noFill/>
        </p:spPr>
        <p:txBody>
          <a:bodyPr wrap="square" rtlCol="0">
            <a:spAutoFit/>
          </a:bodyPr>
          <a:lstStyle/>
          <a:p>
            <a:pPr>
              <a:lnSpc>
                <a:spcPct val="150000"/>
              </a:lnSpc>
            </a:pPr>
            <a:r>
              <a:rPr lang="en-US" sz="1400" dirty="0"/>
              <a:t>Identify the customer segments with the highest risk of churn.</a:t>
            </a:r>
          </a:p>
          <a:p>
            <a:pPr>
              <a:lnSpc>
                <a:spcPct val="150000"/>
              </a:lnSpc>
            </a:pPr>
            <a:endParaRPr lang="en-US" sz="1400" dirty="0">
              <a:latin typeface="Amasis MT Pro Light" panose="02040304050005020304" pitchFamily="18" charset="0"/>
            </a:endParaRPr>
          </a:p>
        </p:txBody>
      </p:sp>
      <p:sp>
        <p:nvSpPr>
          <p:cNvPr id="36" name="TextBox 35">
            <a:extLst>
              <a:ext uri="{FF2B5EF4-FFF2-40B4-BE49-F238E27FC236}">
                <a16:creationId xmlns:a16="http://schemas.microsoft.com/office/drawing/2014/main" id="{11517732-D0A3-395E-FD00-78508C8604B1}"/>
              </a:ext>
            </a:extLst>
          </p:cNvPr>
          <p:cNvSpPr txBox="1"/>
          <p:nvPr/>
        </p:nvSpPr>
        <p:spPr>
          <a:xfrm>
            <a:off x="1888640" y="7273712"/>
            <a:ext cx="5250937" cy="382925"/>
          </a:xfrm>
          <a:prstGeom prst="rect">
            <a:avLst/>
          </a:prstGeom>
          <a:noFill/>
        </p:spPr>
        <p:txBody>
          <a:bodyPr wrap="square" rtlCol="0">
            <a:spAutoFit/>
          </a:bodyPr>
          <a:lstStyle/>
          <a:p>
            <a:pPr>
              <a:lnSpc>
                <a:spcPct val="150000"/>
              </a:lnSpc>
            </a:pPr>
            <a:r>
              <a:rPr lang="en-US" sz="1400" dirty="0"/>
              <a:t>Use charts to highlight trends and support business decisions.</a:t>
            </a:r>
            <a:endParaRPr lang="en-US" sz="1400" dirty="0">
              <a:latin typeface="Amasis MT Pro Light" panose="02040304050005020304" pitchFamily="18" charset="0"/>
            </a:endParaRPr>
          </a:p>
        </p:txBody>
      </p:sp>
      <p:sp>
        <p:nvSpPr>
          <p:cNvPr id="37" name="TextBox 36">
            <a:extLst>
              <a:ext uri="{FF2B5EF4-FFF2-40B4-BE49-F238E27FC236}">
                <a16:creationId xmlns:a16="http://schemas.microsoft.com/office/drawing/2014/main" id="{16E31FCD-7524-F9DB-306A-9619BBC3DB6A}"/>
              </a:ext>
            </a:extLst>
          </p:cNvPr>
          <p:cNvSpPr txBox="1"/>
          <p:nvPr/>
        </p:nvSpPr>
        <p:spPr>
          <a:xfrm>
            <a:off x="8731533" y="7218935"/>
            <a:ext cx="5250937" cy="706091"/>
          </a:xfrm>
          <a:prstGeom prst="rect">
            <a:avLst/>
          </a:prstGeom>
          <a:noFill/>
        </p:spPr>
        <p:txBody>
          <a:bodyPr wrap="square" rtlCol="0">
            <a:spAutoFit/>
          </a:bodyPr>
          <a:lstStyle/>
          <a:p>
            <a:pPr>
              <a:lnSpc>
                <a:spcPct val="150000"/>
              </a:lnSpc>
            </a:pPr>
            <a:r>
              <a:rPr lang="en-US" sz="1400" dirty="0"/>
              <a:t>Develop data-driven strategies to strengthen customer retention at ABC Company</a:t>
            </a:r>
            <a:endParaRPr lang="en-US" sz="1400" dirty="0">
              <a:latin typeface="Amasis MT Pro Light" panose="02040304050005020304" pitchFamily="18" charset="0"/>
            </a:endParaRPr>
          </a:p>
        </p:txBody>
      </p:sp>
    </p:spTree>
    <p:extLst>
      <p:ext uri="{BB962C8B-B14F-4D97-AF65-F5344CB8AC3E}">
        <p14:creationId xmlns:p14="http://schemas.microsoft.com/office/powerpoint/2010/main" val="336925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9D8E4-66F8-E042-0CFA-17B1371A1AD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D008D5-D877-1018-AB07-8E30E4C955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5FFCFDA3-1262-5910-F623-1CC2B9F25115}"/>
              </a:ext>
            </a:extLst>
          </p:cNvPr>
          <p:cNvSpPr/>
          <p:nvPr/>
        </p:nvSpPr>
        <p:spPr>
          <a:xfrm>
            <a:off x="0" y="0"/>
            <a:ext cx="16285464"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D3A6B9A-0122-2346-36CE-37629F03F68C}"/>
              </a:ext>
            </a:extLst>
          </p:cNvPr>
          <p:cNvSpPr txBox="1"/>
          <p:nvPr/>
        </p:nvSpPr>
        <p:spPr>
          <a:xfrm>
            <a:off x="3336329" y="3132948"/>
            <a:ext cx="1358493" cy="1015663"/>
          </a:xfrm>
          <a:prstGeom prst="rect">
            <a:avLst/>
          </a:prstGeom>
          <a:noFill/>
        </p:spPr>
        <p:txBody>
          <a:bodyPr wrap="square" rtlCol="0">
            <a:spAutoFit/>
          </a:bodyPr>
          <a:lstStyle/>
          <a:p>
            <a:pPr algn="ctr"/>
            <a:r>
              <a:rPr lang="en-US" sz="6000" b="1" dirty="0">
                <a:solidFill>
                  <a:srgbClr val="5099AA"/>
                </a:solidFill>
                <a:latin typeface="Oranienbaum" panose="02000506080000020003" pitchFamily="2" charset="0"/>
              </a:rPr>
              <a:t>02.</a:t>
            </a:r>
          </a:p>
        </p:txBody>
      </p:sp>
      <p:sp>
        <p:nvSpPr>
          <p:cNvPr id="10" name="Rectangle 9">
            <a:extLst>
              <a:ext uri="{FF2B5EF4-FFF2-40B4-BE49-F238E27FC236}">
                <a16:creationId xmlns:a16="http://schemas.microsoft.com/office/drawing/2014/main" id="{B51007CE-30D8-2DF4-51B6-6576802C9899}"/>
              </a:ext>
            </a:extLst>
          </p:cNvPr>
          <p:cNvSpPr/>
          <p:nvPr/>
        </p:nvSpPr>
        <p:spPr>
          <a:xfrm flipV="1">
            <a:off x="3679158" y="4124370"/>
            <a:ext cx="719848" cy="118872"/>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9CD011B-FD74-D52F-18E2-A0014CEFBB26}"/>
              </a:ext>
            </a:extLst>
          </p:cNvPr>
          <p:cNvSpPr txBox="1"/>
          <p:nvPr/>
        </p:nvSpPr>
        <p:spPr>
          <a:xfrm>
            <a:off x="3801320" y="4345528"/>
            <a:ext cx="5287389" cy="707886"/>
          </a:xfrm>
          <a:prstGeom prst="rect">
            <a:avLst/>
          </a:prstGeom>
          <a:noFill/>
        </p:spPr>
        <p:txBody>
          <a:bodyPr wrap="square" rtlCol="0">
            <a:spAutoFit/>
          </a:bodyPr>
          <a:lstStyle/>
          <a:p>
            <a:pPr algn="ctr"/>
            <a:r>
              <a:rPr lang="en-US" sz="4000" dirty="0">
                <a:solidFill>
                  <a:schemeClr val="bg1"/>
                </a:solidFill>
              </a:rPr>
              <a:t>Dataset Overview</a:t>
            </a:r>
          </a:p>
        </p:txBody>
      </p:sp>
      <p:sp>
        <p:nvSpPr>
          <p:cNvPr id="7" name="Rectangle 6">
            <a:extLst>
              <a:ext uri="{FF2B5EF4-FFF2-40B4-BE49-F238E27FC236}">
                <a16:creationId xmlns:a16="http://schemas.microsoft.com/office/drawing/2014/main" id="{5340C9F2-CC8A-AE50-6A21-2E8F7FE073C5}"/>
              </a:ext>
            </a:extLst>
          </p:cNvPr>
          <p:cNvSpPr/>
          <p:nvPr/>
        </p:nvSpPr>
        <p:spPr>
          <a:xfrm rot="5400000" flipV="1">
            <a:off x="3444099" y="4591887"/>
            <a:ext cx="592277" cy="122167"/>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281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487680"/>
            <a:ext cx="14752320" cy="1097280"/>
          </a:xfrm>
          <a:prstGeom prst="rect">
            <a:avLst/>
          </a:prstGeom>
          <a:noFill/>
          <a:ln/>
        </p:spPr>
        <p:txBody>
          <a:bodyPr wrap="square" lIns="0" tIns="0" rIns="0" bIns="0" rtlCol="0" anchor="ctr"/>
          <a:lstStyle/>
          <a:p>
            <a:r>
              <a:rPr lang="en-US" sz="4000" dirty="0"/>
              <a:t>Dataset Overview</a:t>
            </a:r>
          </a:p>
        </p:txBody>
      </p:sp>
      <p:sp>
        <p:nvSpPr>
          <p:cNvPr id="4" name="Text 2"/>
          <p:cNvSpPr/>
          <p:nvPr/>
        </p:nvSpPr>
        <p:spPr>
          <a:xfrm>
            <a:off x="731520" y="2255520"/>
            <a:ext cx="3596640" cy="1158240"/>
          </a:xfrm>
          <a:prstGeom prst="rect">
            <a:avLst/>
          </a:prstGeom>
          <a:noFill/>
          <a:ln/>
        </p:spPr>
        <p:txBody>
          <a:bodyPr wrap="square" lIns="0" tIns="0" rIns="0" bIns="0" rtlCol="0" anchor="ctr"/>
          <a:lstStyle/>
          <a:p>
            <a:pPr algn="ctr"/>
            <a:endParaRPr lang="en-US" sz="5333" dirty="0"/>
          </a:p>
        </p:txBody>
      </p:sp>
      <p:sp>
        <p:nvSpPr>
          <p:cNvPr id="5" name="Text 3"/>
          <p:cNvSpPr/>
          <p:nvPr/>
        </p:nvSpPr>
        <p:spPr>
          <a:xfrm>
            <a:off x="731520" y="3413760"/>
            <a:ext cx="3596640" cy="609600"/>
          </a:xfrm>
          <a:prstGeom prst="rect">
            <a:avLst/>
          </a:prstGeom>
          <a:noFill/>
          <a:ln/>
        </p:spPr>
        <p:txBody>
          <a:bodyPr wrap="square" lIns="0" tIns="0" rIns="0" bIns="0" rtlCol="0" anchor="ctr"/>
          <a:lstStyle/>
          <a:p>
            <a:pPr algn="ctr"/>
            <a:endParaRPr lang="en-US" sz="1733" dirty="0"/>
          </a:p>
        </p:txBody>
      </p:sp>
      <p:sp>
        <p:nvSpPr>
          <p:cNvPr id="7" name="Text 5"/>
          <p:cNvSpPr/>
          <p:nvPr/>
        </p:nvSpPr>
        <p:spPr>
          <a:xfrm>
            <a:off x="4632960" y="2255520"/>
            <a:ext cx="3596640" cy="1158240"/>
          </a:xfrm>
          <a:prstGeom prst="rect">
            <a:avLst/>
          </a:prstGeom>
          <a:noFill/>
          <a:ln/>
        </p:spPr>
        <p:txBody>
          <a:bodyPr wrap="square" lIns="0" tIns="0" rIns="0" bIns="0" rtlCol="0" anchor="ctr"/>
          <a:lstStyle/>
          <a:p>
            <a:pPr algn="ctr"/>
            <a:endParaRPr lang="en-US" sz="5333" dirty="0"/>
          </a:p>
        </p:txBody>
      </p:sp>
      <p:sp>
        <p:nvSpPr>
          <p:cNvPr id="8" name="Text 6"/>
          <p:cNvSpPr/>
          <p:nvPr/>
        </p:nvSpPr>
        <p:spPr>
          <a:xfrm>
            <a:off x="4632960" y="3413760"/>
            <a:ext cx="3596640" cy="609600"/>
          </a:xfrm>
          <a:prstGeom prst="rect">
            <a:avLst/>
          </a:prstGeom>
          <a:noFill/>
          <a:ln/>
        </p:spPr>
        <p:txBody>
          <a:bodyPr wrap="square" lIns="0" tIns="0" rIns="0" bIns="0" rtlCol="0" anchor="ctr"/>
          <a:lstStyle/>
          <a:p>
            <a:pPr algn="ctr"/>
            <a:endParaRPr lang="en-US" sz="1733" dirty="0"/>
          </a:p>
        </p:txBody>
      </p:sp>
      <p:sp>
        <p:nvSpPr>
          <p:cNvPr id="10" name="Text 8"/>
          <p:cNvSpPr/>
          <p:nvPr/>
        </p:nvSpPr>
        <p:spPr>
          <a:xfrm>
            <a:off x="8534400" y="2255520"/>
            <a:ext cx="3596640" cy="1158240"/>
          </a:xfrm>
          <a:prstGeom prst="rect">
            <a:avLst/>
          </a:prstGeom>
          <a:noFill/>
          <a:ln/>
        </p:spPr>
        <p:txBody>
          <a:bodyPr wrap="square" lIns="0" tIns="0" rIns="0" bIns="0" rtlCol="0" anchor="ctr"/>
          <a:lstStyle/>
          <a:p>
            <a:pPr algn="ctr"/>
            <a:endParaRPr lang="en-US" sz="5333" dirty="0"/>
          </a:p>
        </p:txBody>
      </p:sp>
      <p:sp>
        <p:nvSpPr>
          <p:cNvPr id="11" name="Text 9"/>
          <p:cNvSpPr/>
          <p:nvPr/>
        </p:nvSpPr>
        <p:spPr>
          <a:xfrm>
            <a:off x="8534400" y="3413760"/>
            <a:ext cx="3596640" cy="609600"/>
          </a:xfrm>
          <a:prstGeom prst="rect">
            <a:avLst/>
          </a:prstGeom>
          <a:noFill/>
          <a:ln/>
        </p:spPr>
        <p:txBody>
          <a:bodyPr wrap="square" lIns="0" tIns="0" rIns="0" bIns="0" rtlCol="0" anchor="ctr"/>
          <a:lstStyle/>
          <a:p>
            <a:pPr algn="ctr"/>
            <a:endParaRPr lang="en-US" sz="1733" dirty="0"/>
          </a:p>
        </p:txBody>
      </p:sp>
      <p:sp>
        <p:nvSpPr>
          <p:cNvPr id="13" name="Text 11"/>
          <p:cNvSpPr/>
          <p:nvPr/>
        </p:nvSpPr>
        <p:spPr>
          <a:xfrm>
            <a:off x="12435840" y="2255520"/>
            <a:ext cx="3596640" cy="1158240"/>
          </a:xfrm>
          <a:prstGeom prst="rect">
            <a:avLst/>
          </a:prstGeom>
          <a:noFill/>
          <a:ln/>
        </p:spPr>
        <p:txBody>
          <a:bodyPr wrap="square" lIns="0" tIns="0" rIns="0" bIns="0" rtlCol="0" anchor="ctr"/>
          <a:lstStyle/>
          <a:p>
            <a:pPr algn="ctr"/>
            <a:endParaRPr lang="en-US" sz="5333" dirty="0"/>
          </a:p>
        </p:txBody>
      </p:sp>
      <p:sp>
        <p:nvSpPr>
          <p:cNvPr id="14" name="Text 12"/>
          <p:cNvSpPr/>
          <p:nvPr/>
        </p:nvSpPr>
        <p:spPr>
          <a:xfrm>
            <a:off x="12435840" y="3413760"/>
            <a:ext cx="3596640" cy="609600"/>
          </a:xfrm>
          <a:prstGeom prst="rect">
            <a:avLst/>
          </a:prstGeom>
          <a:noFill/>
          <a:ln/>
        </p:spPr>
        <p:txBody>
          <a:bodyPr wrap="square" lIns="0" tIns="0" rIns="0" bIns="0" rtlCol="0" anchor="ctr"/>
          <a:lstStyle/>
          <a:p>
            <a:pPr algn="ctr"/>
            <a:endParaRPr lang="en-US" sz="1733" dirty="0"/>
          </a:p>
        </p:txBody>
      </p:sp>
      <p:sp>
        <p:nvSpPr>
          <p:cNvPr id="15" name="Text 13"/>
          <p:cNvSpPr/>
          <p:nvPr/>
        </p:nvSpPr>
        <p:spPr>
          <a:xfrm>
            <a:off x="731520" y="5307262"/>
            <a:ext cx="7315200" cy="426720"/>
          </a:xfrm>
          <a:prstGeom prst="rect">
            <a:avLst/>
          </a:prstGeom>
          <a:noFill/>
          <a:ln/>
        </p:spPr>
        <p:txBody>
          <a:bodyPr wrap="square" lIns="0" tIns="0" rIns="0" bIns="0" rtlCol="0" anchor="ctr"/>
          <a:lstStyle/>
          <a:p>
            <a:r>
              <a:rPr lang="en-US" sz="1600" b="1" kern="0" spc="267" dirty="0">
                <a:solidFill>
                  <a:srgbClr val="1C7293"/>
                </a:solidFill>
                <a:latin typeface="Calibri" pitchFamily="34" charset="0"/>
                <a:ea typeface="Calibri" pitchFamily="34" charset="-122"/>
                <a:cs typeface="Calibri" pitchFamily="34" charset="-120"/>
              </a:rPr>
              <a:t>DATA QUALITY NOTES</a:t>
            </a:r>
            <a:endParaRPr lang="en-US" sz="1600" dirty="0"/>
          </a:p>
        </p:txBody>
      </p:sp>
      <p:sp>
        <p:nvSpPr>
          <p:cNvPr id="16" name="Text 14"/>
          <p:cNvSpPr/>
          <p:nvPr/>
        </p:nvSpPr>
        <p:spPr>
          <a:xfrm>
            <a:off x="187629" y="6212431"/>
            <a:ext cx="14386560" cy="2170728"/>
          </a:xfrm>
          <a:prstGeom prst="rect">
            <a:avLst/>
          </a:prstGeom>
          <a:noFill/>
          <a:ln/>
        </p:spPr>
        <p:txBody>
          <a:bodyPr wrap="square" lIns="0" tIns="0" rIns="0" bIns="0" rtlCol="0" anchor="ctr"/>
          <a:lstStyle/>
          <a:p>
            <a:pPr marL="457189" indent="-457189">
              <a:lnSpc>
                <a:spcPct val="120000"/>
              </a:lnSpc>
              <a:spcAft>
                <a:spcPts val="1333"/>
              </a:spcAft>
              <a:buSzPct val="100000"/>
              <a:buChar char="•"/>
            </a:pPr>
            <a:r>
              <a:rPr lang="en-US" dirty="0">
                <a:solidFill>
                  <a:srgbClr val="1A1A2E"/>
                </a:solidFill>
                <a:latin typeface="Calibri" pitchFamily="34" charset="0"/>
                <a:ea typeface="Calibri" pitchFamily="34" charset="-122"/>
                <a:cs typeface="Calibri" pitchFamily="34" charset="-120"/>
              </a:rPr>
              <a:t>Dataset sourced from Kaggle's Telco Customer Churn </a:t>
            </a:r>
          </a:p>
          <a:p>
            <a:pPr marL="457189" indent="-457189">
              <a:lnSpc>
                <a:spcPct val="120000"/>
              </a:lnSpc>
              <a:spcAft>
                <a:spcPts val="1333"/>
              </a:spcAft>
              <a:buSzPct val="100000"/>
              <a:buChar char="•"/>
            </a:pPr>
            <a:r>
              <a:rPr lang="en-US" dirty="0"/>
              <a:t>the dataset was inspected for missing values, duplicates, inconsistent categories, </a:t>
            </a:r>
          </a:p>
          <a:p>
            <a:pPr>
              <a:lnSpc>
                <a:spcPct val="120000"/>
              </a:lnSpc>
              <a:spcAft>
                <a:spcPts val="1333"/>
              </a:spcAft>
              <a:buSzPct val="100000"/>
            </a:pPr>
            <a:r>
              <a:rPr lang="en-US" dirty="0"/>
              <a:t>          incorrect data types and unusual values. Necessary cleaning steps were performed </a:t>
            </a:r>
          </a:p>
          <a:p>
            <a:pPr>
              <a:lnSpc>
                <a:spcPct val="120000"/>
              </a:lnSpc>
              <a:spcAft>
                <a:spcPts val="1333"/>
              </a:spcAft>
              <a:buSzPct val="100000"/>
            </a:pPr>
            <a:r>
              <a:rPr lang="en-US" dirty="0"/>
              <a:t>          to ensure that the dataset was suitable for analysis.</a:t>
            </a:r>
          </a:p>
          <a:p>
            <a:pPr marL="457189" indent="-457189">
              <a:lnSpc>
                <a:spcPct val="120000"/>
              </a:lnSpc>
              <a:spcAft>
                <a:spcPts val="1333"/>
              </a:spcAft>
              <a:buSzPct val="100000"/>
              <a:buChar char="•"/>
            </a:pPr>
            <a:r>
              <a:rPr lang="en-US" dirty="0">
                <a:solidFill>
                  <a:srgbClr val="1A1A2E"/>
                </a:solidFill>
                <a:latin typeface="Calibri" pitchFamily="34" charset="0"/>
                <a:ea typeface="Calibri" pitchFamily="34" charset="-122"/>
                <a:cs typeface="Calibri" pitchFamily="34" charset="-120"/>
              </a:rPr>
              <a:t>No missing values or duplicate customer IDs found.</a:t>
            </a:r>
          </a:p>
          <a:p>
            <a:pPr>
              <a:lnSpc>
                <a:spcPct val="120000"/>
              </a:lnSpc>
              <a:spcAft>
                <a:spcPts val="1333"/>
              </a:spcAft>
              <a:buSzPct val="100000"/>
            </a:pPr>
            <a:endParaRPr lang="en-US" dirty="0"/>
          </a:p>
        </p:txBody>
      </p:sp>
      <p:sp>
        <p:nvSpPr>
          <p:cNvPr id="18" name="Text 16"/>
          <p:cNvSpPr/>
          <p:nvPr/>
        </p:nvSpPr>
        <p:spPr>
          <a:xfrm>
            <a:off x="15483840" y="8595360"/>
            <a:ext cx="609600" cy="426720"/>
          </a:xfrm>
          <a:prstGeom prst="rect">
            <a:avLst/>
          </a:prstGeom>
          <a:noFill/>
          <a:ln/>
        </p:spPr>
        <p:txBody>
          <a:bodyPr wrap="square" lIns="0" tIns="0" rIns="0" bIns="0" rtlCol="0" anchor="ctr"/>
          <a:lstStyle/>
          <a:p>
            <a:pPr algn="r"/>
            <a:r>
              <a:rPr lang="en-US" sz="1333" dirty="0">
                <a:solidFill>
                  <a:srgbClr val="5A6472"/>
                </a:solidFill>
                <a:latin typeface="Calibri" pitchFamily="34" charset="0"/>
                <a:ea typeface="Calibri" pitchFamily="34" charset="-122"/>
                <a:cs typeface="Calibri" pitchFamily="34" charset="-120"/>
              </a:rPr>
              <a:t>4</a:t>
            </a:r>
            <a:endParaRPr lang="en-US" sz="1333" dirty="0"/>
          </a:p>
        </p:txBody>
      </p:sp>
      <p:pic>
        <p:nvPicPr>
          <p:cNvPr id="20" name="Picture 19">
            <a:extLst>
              <a:ext uri="{FF2B5EF4-FFF2-40B4-BE49-F238E27FC236}">
                <a16:creationId xmlns:a16="http://schemas.microsoft.com/office/drawing/2014/main" id="{4C5595CF-CF73-FE73-E74D-D461B687C3B9}"/>
              </a:ext>
            </a:extLst>
          </p:cNvPr>
          <p:cNvPicPr>
            <a:picLocks noChangeAspect="1"/>
          </p:cNvPicPr>
          <p:nvPr/>
        </p:nvPicPr>
        <p:blipFill>
          <a:blip r:embed="rId3"/>
          <a:stretch>
            <a:fillRect/>
          </a:stretch>
        </p:blipFill>
        <p:spPr>
          <a:xfrm>
            <a:off x="426720" y="1733760"/>
            <a:ext cx="3096409" cy="1344862"/>
          </a:xfrm>
          <a:prstGeom prst="rect">
            <a:avLst/>
          </a:prstGeom>
        </p:spPr>
      </p:pic>
      <p:pic>
        <p:nvPicPr>
          <p:cNvPr id="23" name="Picture 22">
            <a:extLst>
              <a:ext uri="{FF2B5EF4-FFF2-40B4-BE49-F238E27FC236}">
                <a16:creationId xmlns:a16="http://schemas.microsoft.com/office/drawing/2014/main" id="{2FB26142-1343-510C-5CF0-D2233C558809}"/>
              </a:ext>
            </a:extLst>
          </p:cNvPr>
          <p:cNvPicPr>
            <a:picLocks noChangeAspect="1"/>
          </p:cNvPicPr>
          <p:nvPr/>
        </p:nvPicPr>
        <p:blipFill>
          <a:blip r:embed="rId4"/>
          <a:stretch>
            <a:fillRect/>
          </a:stretch>
        </p:blipFill>
        <p:spPr>
          <a:xfrm>
            <a:off x="13080669" y="1669752"/>
            <a:ext cx="2987040" cy="1359551"/>
          </a:xfrm>
          <a:prstGeom prst="rect">
            <a:avLst/>
          </a:prstGeom>
        </p:spPr>
      </p:pic>
      <p:sp>
        <p:nvSpPr>
          <p:cNvPr id="25" name="TextBox 24">
            <a:extLst>
              <a:ext uri="{FF2B5EF4-FFF2-40B4-BE49-F238E27FC236}">
                <a16:creationId xmlns:a16="http://schemas.microsoft.com/office/drawing/2014/main" id="{6161E360-0728-4A61-A48C-EAAB211E8B87}"/>
              </a:ext>
            </a:extLst>
          </p:cNvPr>
          <p:cNvSpPr txBox="1"/>
          <p:nvPr/>
        </p:nvSpPr>
        <p:spPr>
          <a:xfrm>
            <a:off x="6511962" y="1773330"/>
            <a:ext cx="2825675" cy="1158240"/>
          </a:xfrm>
          <a:prstGeom prst="rect">
            <a:avLst/>
          </a:prstGeom>
          <a:solidFill>
            <a:sysClr val="window" lastClr="FFFFFF"/>
          </a:solidFill>
          <a:ln w="9525" cmpd="sng">
            <a:solidFill>
              <a:sysClr val="window" lastClr="FFFFFF">
                <a:shade val="50000"/>
              </a:sysClr>
            </a:solidFill>
          </a:ln>
          <a:effectLst>
            <a:outerShdw blurRad="50800" dist="38100" dir="5400000" algn="t" rotWithShape="0">
              <a:prstClr val="black">
                <a:alpha val="40000"/>
              </a:prstClr>
            </a:outerShdw>
          </a:effectLst>
        </p:spPr>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3600" b="1" i="0" u="none" strike="noStrike" kern="0" cap="none" spc="0" normalizeH="0" baseline="0" noProof="0" dirty="0">
                <a:ln>
                  <a:noFill/>
                </a:ln>
                <a:solidFill>
                  <a:srgbClr val="000000"/>
                </a:solidFill>
                <a:effectLst/>
                <a:uLnTx/>
                <a:uFillTx/>
                <a:latin typeface="Calibri"/>
                <a:ea typeface="Calibri"/>
                <a:cs typeface="Calibri"/>
              </a:rPr>
              <a:t>0</a:t>
            </a:r>
          </a:p>
          <a:p>
            <a:pPr marL="0" marR="0" lvl="0" indent="0" algn="l" defTabSz="914400" eaLnBrk="1" fontAlgn="auto" latinLnBrk="0" hangingPunct="1">
              <a:lnSpc>
                <a:spcPct val="100000"/>
              </a:lnSpc>
              <a:spcBef>
                <a:spcPts val="0"/>
              </a:spcBef>
              <a:spcAft>
                <a:spcPts val="0"/>
              </a:spcAft>
              <a:buClrTx/>
              <a:buSzTx/>
              <a:buFontTx/>
              <a:buNone/>
              <a:tabLst/>
              <a:defRPr/>
            </a:pPr>
            <a:r>
              <a:rPr lang="en-US" sz="2400" kern="0" dirty="0">
                <a:solidFill>
                  <a:srgbClr val="000000"/>
                </a:solidFill>
                <a:latin typeface="Calibri"/>
                <a:ea typeface="Calibri"/>
                <a:cs typeface="Calibri"/>
              </a:rPr>
              <a:t>Duplicate Records </a:t>
            </a:r>
            <a:endParaRPr kumimoji="0" lang="en-US" sz="240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FE1AA3D4-B1A6-88AF-A089-2283D2F6721E}"/>
              </a:ext>
            </a:extLst>
          </p:cNvPr>
          <p:cNvSpPr txBox="1"/>
          <p:nvPr/>
        </p:nvSpPr>
        <p:spPr>
          <a:xfrm>
            <a:off x="3523129" y="1794710"/>
            <a:ext cx="2825675" cy="1158240"/>
          </a:xfrm>
          <a:prstGeom prst="rect">
            <a:avLst/>
          </a:prstGeom>
          <a:solidFill>
            <a:sysClr val="window" lastClr="FFFFFF"/>
          </a:solidFill>
          <a:ln w="9525" cmpd="sng">
            <a:solidFill>
              <a:sysClr val="window" lastClr="FFFFFF">
                <a:shade val="50000"/>
              </a:sysClr>
            </a:solidFill>
          </a:ln>
          <a:effectLst>
            <a:outerShdw blurRad="50800" dist="38100" dir="5400000" algn="t" rotWithShape="0">
              <a:prstClr val="black">
                <a:alpha val="40000"/>
              </a:prstClr>
            </a:outerShdw>
          </a:effectLst>
        </p:spPr>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3600" b="1" kern="0" dirty="0">
                <a:solidFill>
                  <a:srgbClr val="000000"/>
                </a:solidFill>
                <a:latin typeface="Calibri"/>
                <a:ea typeface="Calibri"/>
                <a:cs typeface="Calibri"/>
              </a:rPr>
              <a:t>21</a:t>
            </a:r>
            <a:endParaRPr kumimoji="0" lang="en-US" sz="3600" b="1" i="0" u="none" strike="noStrike" kern="0" cap="none" spc="0" normalizeH="0" baseline="0" noProof="0" dirty="0">
              <a:ln>
                <a:noFill/>
              </a:ln>
              <a:solidFill>
                <a:srgbClr val="000000"/>
              </a:solidFill>
              <a:effectLst/>
              <a:uLnTx/>
              <a:uFillTx/>
              <a:latin typeface="Calibri"/>
              <a:ea typeface="Calibri"/>
              <a:cs typeface="Calibri"/>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2400" kern="0" dirty="0">
                <a:solidFill>
                  <a:srgbClr val="000000"/>
                </a:solidFill>
                <a:latin typeface="Calibri"/>
                <a:ea typeface="Calibri"/>
                <a:cs typeface="Calibri"/>
              </a:rPr>
              <a:t>Data </a:t>
            </a:r>
            <a:r>
              <a:rPr lang="en-US" sz="2400" kern="0" dirty="0" err="1">
                <a:solidFill>
                  <a:srgbClr val="000000"/>
                </a:solidFill>
                <a:latin typeface="Calibri"/>
                <a:ea typeface="Calibri"/>
                <a:cs typeface="Calibri"/>
              </a:rPr>
              <a:t>Colums</a:t>
            </a:r>
            <a:endParaRPr kumimoji="0" lang="en-US" sz="2400" i="0" u="none" strike="noStrike" kern="0" cap="none" spc="0" normalizeH="0" baseline="0" noProof="0" dirty="0">
              <a:ln>
                <a:noFill/>
              </a:ln>
              <a:solidFill>
                <a:sysClr val="windowText" lastClr="000000"/>
              </a:solidFill>
              <a:effectLst/>
              <a:uLnTx/>
              <a:uFillTx/>
              <a:latin typeface="Calibri" panose="020F0502020204030204"/>
              <a:ea typeface="+mn-ea"/>
              <a:cs typeface="+mn-cs"/>
            </a:endParaRPr>
          </a:p>
        </p:txBody>
      </p:sp>
      <p:pic>
        <p:nvPicPr>
          <p:cNvPr id="31" name="Picture 30">
            <a:extLst>
              <a:ext uri="{FF2B5EF4-FFF2-40B4-BE49-F238E27FC236}">
                <a16:creationId xmlns:a16="http://schemas.microsoft.com/office/drawing/2014/main" id="{49482363-4BD9-7BFC-CF37-5E3BE5F5948A}"/>
              </a:ext>
            </a:extLst>
          </p:cNvPr>
          <p:cNvPicPr>
            <a:picLocks noChangeAspect="1"/>
          </p:cNvPicPr>
          <p:nvPr/>
        </p:nvPicPr>
        <p:blipFill>
          <a:blip r:embed="rId5"/>
          <a:stretch>
            <a:fillRect/>
          </a:stretch>
        </p:blipFill>
        <p:spPr>
          <a:xfrm>
            <a:off x="9337637" y="1725419"/>
            <a:ext cx="3778261" cy="1344862"/>
          </a:xfrm>
          <a:prstGeom prst="rect">
            <a:avLst/>
          </a:prstGeom>
        </p:spPr>
      </p:pic>
      <p:pic>
        <p:nvPicPr>
          <p:cNvPr id="34" name="Picture 33">
            <a:extLst>
              <a:ext uri="{FF2B5EF4-FFF2-40B4-BE49-F238E27FC236}">
                <a16:creationId xmlns:a16="http://schemas.microsoft.com/office/drawing/2014/main" id="{725F499D-D104-5442-DD02-EE293E7AFFC6}"/>
              </a:ext>
            </a:extLst>
          </p:cNvPr>
          <p:cNvPicPr>
            <a:picLocks noChangeAspect="1"/>
          </p:cNvPicPr>
          <p:nvPr/>
        </p:nvPicPr>
        <p:blipFill>
          <a:blip r:embed="rId6"/>
          <a:stretch>
            <a:fillRect/>
          </a:stretch>
        </p:blipFill>
        <p:spPr>
          <a:xfrm>
            <a:off x="490370" y="3170076"/>
            <a:ext cx="2961043" cy="13448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25984-9AC4-8A99-7272-DCFB945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BD6418C3-3E3D-F973-0F8E-BCF2BBB5AD8B}"/>
              </a:ext>
            </a:extLst>
          </p:cNvPr>
          <p:cNvSpPr/>
          <p:nvPr/>
        </p:nvSpPr>
        <p:spPr>
          <a:xfrm>
            <a:off x="0" y="0"/>
            <a:ext cx="16285464"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772BAB4-74F4-16E9-6752-3E8E51628603}"/>
              </a:ext>
            </a:extLst>
          </p:cNvPr>
          <p:cNvSpPr txBox="1"/>
          <p:nvPr/>
        </p:nvSpPr>
        <p:spPr>
          <a:xfrm>
            <a:off x="3336329" y="3132948"/>
            <a:ext cx="1358493" cy="1015663"/>
          </a:xfrm>
          <a:prstGeom prst="rect">
            <a:avLst/>
          </a:prstGeom>
          <a:noFill/>
        </p:spPr>
        <p:txBody>
          <a:bodyPr wrap="square" rtlCol="0">
            <a:spAutoFit/>
          </a:bodyPr>
          <a:lstStyle/>
          <a:p>
            <a:pPr algn="ctr"/>
            <a:r>
              <a:rPr lang="en-US" sz="6000" b="1" dirty="0">
                <a:solidFill>
                  <a:srgbClr val="5099AA"/>
                </a:solidFill>
                <a:latin typeface="Oranienbaum" panose="02000506080000020003" pitchFamily="2" charset="0"/>
              </a:rPr>
              <a:t>03.</a:t>
            </a:r>
          </a:p>
        </p:txBody>
      </p:sp>
      <p:sp>
        <p:nvSpPr>
          <p:cNvPr id="10" name="Rectangle 9">
            <a:extLst>
              <a:ext uri="{FF2B5EF4-FFF2-40B4-BE49-F238E27FC236}">
                <a16:creationId xmlns:a16="http://schemas.microsoft.com/office/drawing/2014/main" id="{1209BBD8-3BDC-4A36-C248-B7D83467B8FF}"/>
              </a:ext>
            </a:extLst>
          </p:cNvPr>
          <p:cNvSpPr/>
          <p:nvPr/>
        </p:nvSpPr>
        <p:spPr>
          <a:xfrm flipV="1">
            <a:off x="3679158" y="4124370"/>
            <a:ext cx="719848" cy="118872"/>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50BF5B6-C788-121F-49FF-3EC510C9719E}"/>
              </a:ext>
            </a:extLst>
          </p:cNvPr>
          <p:cNvSpPr txBox="1"/>
          <p:nvPr/>
        </p:nvSpPr>
        <p:spPr>
          <a:xfrm>
            <a:off x="3801320" y="4345528"/>
            <a:ext cx="5287389" cy="1323439"/>
          </a:xfrm>
          <a:prstGeom prst="rect">
            <a:avLst/>
          </a:prstGeom>
          <a:noFill/>
        </p:spPr>
        <p:txBody>
          <a:bodyPr wrap="square" rtlCol="0">
            <a:spAutoFit/>
          </a:bodyPr>
          <a:lstStyle/>
          <a:p>
            <a:pPr algn="ctr"/>
            <a:r>
              <a:rPr lang="en-US" sz="4000" dirty="0">
                <a:solidFill>
                  <a:schemeClr val="bg1"/>
                </a:solidFill>
              </a:rPr>
              <a:t>Visualize Key Patterns</a:t>
            </a:r>
            <a:endParaRPr lang="en-US" sz="4000" b="1" dirty="0">
              <a:solidFill>
                <a:schemeClr val="bg1"/>
              </a:solidFill>
              <a:latin typeface="Amasis MT Pro Light" panose="02040304050005020304" pitchFamily="18" charset="0"/>
            </a:endParaRPr>
          </a:p>
          <a:p>
            <a:pPr algn="ctr"/>
            <a:endParaRPr lang="en-US" sz="4000" dirty="0">
              <a:solidFill>
                <a:schemeClr val="bg1"/>
              </a:solidFill>
              <a:latin typeface="Amasis MT Pro Light" panose="02040304050005020304" pitchFamily="18" charset="0"/>
            </a:endParaRPr>
          </a:p>
        </p:txBody>
      </p:sp>
      <p:sp>
        <p:nvSpPr>
          <p:cNvPr id="6" name="TextBox 5">
            <a:extLst>
              <a:ext uri="{FF2B5EF4-FFF2-40B4-BE49-F238E27FC236}">
                <a16:creationId xmlns:a16="http://schemas.microsoft.com/office/drawing/2014/main" id="{3A355001-5CAC-94C0-4695-11FEDC2246D0}"/>
              </a:ext>
            </a:extLst>
          </p:cNvPr>
          <p:cNvSpPr txBox="1"/>
          <p:nvPr/>
        </p:nvSpPr>
        <p:spPr>
          <a:xfrm>
            <a:off x="3929078" y="5059842"/>
            <a:ext cx="5159632" cy="1295868"/>
          </a:xfrm>
          <a:prstGeom prst="rect">
            <a:avLst/>
          </a:prstGeom>
          <a:noFill/>
        </p:spPr>
        <p:txBody>
          <a:bodyPr wrap="square" rtlCol="0">
            <a:spAutoFit/>
          </a:bodyPr>
          <a:lstStyle/>
          <a:p>
            <a:pPr>
              <a:lnSpc>
                <a:spcPct val="150000"/>
              </a:lnSpc>
            </a:pPr>
            <a:r>
              <a:rPr lang="en-US" dirty="0">
                <a:solidFill>
                  <a:schemeClr val="bg1"/>
                </a:solidFill>
              </a:rPr>
              <a:t>Use charts to highlight trends and support business decisions.</a:t>
            </a:r>
            <a:endParaRPr lang="en-US" dirty="0">
              <a:solidFill>
                <a:schemeClr val="bg1"/>
              </a:solidFill>
              <a:latin typeface="Amasis MT Pro Light" panose="02040304050005020304" pitchFamily="18" charset="0"/>
            </a:endParaRPr>
          </a:p>
          <a:p>
            <a:pPr algn="l">
              <a:lnSpc>
                <a:spcPct val="150000"/>
              </a:lnSpc>
            </a:pPr>
            <a:endParaRPr lang="en-US"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7" name="Rectangle 6">
            <a:extLst>
              <a:ext uri="{FF2B5EF4-FFF2-40B4-BE49-F238E27FC236}">
                <a16:creationId xmlns:a16="http://schemas.microsoft.com/office/drawing/2014/main" id="{9DF7F4C1-BC91-0623-E5D5-F1560E10DA07}"/>
              </a:ext>
            </a:extLst>
          </p:cNvPr>
          <p:cNvSpPr/>
          <p:nvPr/>
        </p:nvSpPr>
        <p:spPr>
          <a:xfrm rot="5400000" flipV="1">
            <a:off x="3444099" y="4591887"/>
            <a:ext cx="592277" cy="122167"/>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509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945569" y="546824"/>
            <a:ext cx="14352979" cy="538609"/>
          </a:xfrm>
          <a:prstGeom prst="rect">
            <a:avLst/>
          </a:prstGeom>
          <a:noFill/>
        </p:spPr>
        <p:txBody>
          <a:bodyPr wrap="square" rtlCol="0">
            <a:spAutoFit/>
          </a:bodyPr>
          <a:lstStyle/>
          <a:p>
            <a:r>
              <a:rPr lang="en-US" sz="2900" dirty="0">
                <a:solidFill>
                  <a:srgbClr val="14262A"/>
                </a:solidFill>
                <a:latin typeface="Amasis MT Pro Light" panose="02040304050005020304" pitchFamily="18" charset="0"/>
              </a:rPr>
              <a:t>A churn rate of </a:t>
            </a:r>
            <a:r>
              <a:rPr lang="en-US" sz="2900" b="1" dirty="0">
                <a:solidFill>
                  <a:srgbClr val="5099AA"/>
                </a:solidFill>
                <a:latin typeface="Amasis MT Pro Light" panose="02040304050005020304" pitchFamily="18" charset="0"/>
              </a:rPr>
              <a:t>26.50% </a:t>
            </a:r>
            <a:r>
              <a:rPr lang="en-US" sz="2900" dirty="0">
                <a:solidFill>
                  <a:srgbClr val="14262A"/>
                </a:solidFill>
                <a:latin typeface="Amasis MT Pro Light" panose="02040304050005020304" pitchFamily="18" charset="0"/>
              </a:rPr>
              <a:t>shows that roughly one out of four customers are leaving the company.</a:t>
            </a:r>
            <a:endParaRPr lang="en-US" sz="2900" b="1" dirty="0">
              <a:solidFill>
                <a:srgbClr val="14262A"/>
              </a:solidFill>
              <a:latin typeface="Amasis MT Pro Light" panose="02040304050005020304" pitchFamily="18" charset="0"/>
            </a:endParaRP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668370" y="732585"/>
            <a:ext cx="462958"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3B5AEE8-1635-3698-3ECD-7794187A980D}"/>
              </a:ext>
            </a:extLst>
          </p:cNvPr>
          <p:cNvSpPr/>
          <p:nvPr/>
        </p:nvSpPr>
        <p:spPr>
          <a:xfrm rot="5400000" flipV="1">
            <a:off x="8756928" y="-1931949"/>
            <a:ext cx="3146347" cy="10094116"/>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Box 37">
            <a:extLst>
              <a:ext uri="{FF2B5EF4-FFF2-40B4-BE49-F238E27FC236}">
                <a16:creationId xmlns:a16="http://schemas.microsoft.com/office/drawing/2014/main" id="{9B8B9CA0-8983-FC05-CDB7-B8EE822542E8}"/>
              </a:ext>
            </a:extLst>
          </p:cNvPr>
          <p:cNvSpPr txBox="1"/>
          <p:nvPr/>
        </p:nvSpPr>
        <p:spPr>
          <a:xfrm>
            <a:off x="5689390" y="770966"/>
            <a:ext cx="9426276" cy="3293209"/>
          </a:xfrm>
          <a:prstGeom prst="rect">
            <a:avLst/>
          </a:prstGeom>
          <a:noFill/>
        </p:spPr>
        <p:txBody>
          <a:bodyPr wrap="square" rtlCol="0">
            <a:spAutoFit/>
          </a:bodyPr>
          <a:lstStyle/>
          <a:p>
            <a:endParaRPr lang="en-US" sz="1600" b="1" dirty="0">
              <a:solidFill>
                <a:srgbClr val="14262A"/>
              </a:solidFill>
              <a:latin typeface="Amasis MT Pro Light" panose="02040304050005020304" pitchFamily="18" charset="0"/>
            </a:endParaRPr>
          </a:p>
          <a:p>
            <a:endParaRPr lang="en-US" sz="1600" b="1" dirty="0">
              <a:solidFill>
                <a:srgbClr val="14262A"/>
              </a:solidFill>
              <a:latin typeface="Amasis MT Pro Light" panose="02040304050005020304" pitchFamily="18" charset="0"/>
            </a:endParaRPr>
          </a:p>
          <a:p>
            <a:endParaRPr lang="en-US" sz="1600" b="1" dirty="0">
              <a:solidFill>
                <a:srgbClr val="14262A"/>
              </a:solidFill>
              <a:latin typeface="Amasis MT Pro Light" panose="02040304050005020304" pitchFamily="18" charset="0"/>
            </a:endParaRPr>
          </a:p>
          <a:p>
            <a:r>
              <a:rPr lang="en-US" sz="1600" b="1" dirty="0">
                <a:solidFill>
                  <a:srgbClr val="14262A"/>
                </a:solidFill>
                <a:latin typeface="Amasis MT Pro Light" panose="02040304050005020304" pitchFamily="18" charset="0"/>
              </a:rPr>
              <a:t>Gender</a:t>
            </a:r>
            <a:r>
              <a:rPr lang="en-US" sz="1600" dirty="0">
                <a:solidFill>
                  <a:srgbClr val="14262A"/>
                </a:solidFill>
                <a:latin typeface="Amasis MT Pro Light" panose="02040304050005020304" pitchFamily="18" charset="0"/>
              </a:rPr>
              <a:t>: The customer base is nearly evenly split between males and females, so gender does not appear to create a major imbalance.</a:t>
            </a:r>
          </a:p>
          <a:p>
            <a:endParaRPr lang="en-US" sz="1600" b="1" dirty="0">
              <a:solidFill>
                <a:srgbClr val="14262A"/>
              </a:solidFill>
              <a:latin typeface="Amasis MT Pro Light" panose="02040304050005020304" pitchFamily="18" charset="0"/>
            </a:endParaRPr>
          </a:p>
          <a:p>
            <a:r>
              <a:rPr lang="en-US" sz="1600" b="1" dirty="0">
                <a:solidFill>
                  <a:srgbClr val="14262A"/>
                </a:solidFill>
                <a:latin typeface="Amasis MT Pro Light" panose="02040304050005020304" pitchFamily="18" charset="0"/>
              </a:rPr>
              <a:t>Internet Service: </a:t>
            </a:r>
            <a:r>
              <a:rPr lang="en-US" sz="1600" dirty="0">
                <a:solidFill>
                  <a:srgbClr val="14262A"/>
                </a:solidFill>
                <a:latin typeface="Amasis MT Pro Light" panose="02040304050005020304" pitchFamily="18" charset="0"/>
              </a:rPr>
              <a:t>Fiber-optic customers have the highest number of churned customers, making this segment a key area for retention efforts.</a:t>
            </a:r>
          </a:p>
          <a:p>
            <a:endParaRPr lang="en-US" sz="1600" dirty="0">
              <a:solidFill>
                <a:srgbClr val="14262A"/>
              </a:solidFill>
              <a:latin typeface="Amasis MT Pro Light" panose="02040304050005020304" pitchFamily="18" charset="0"/>
            </a:endParaRPr>
          </a:p>
          <a:p>
            <a:r>
              <a:rPr lang="en-US" sz="1600" b="1" dirty="0">
                <a:solidFill>
                  <a:srgbClr val="14262A"/>
                </a:solidFill>
                <a:latin typeface="Amasis MT Pro Light" panose="02040304050005020304" pitchFamily="18" charset="0"/>
              </a:rPr>
              <a:t>Contract Type</a:t>
            </a:r>
            <a:r>
              <a:rPr lang="en-US" sz="1600" dirty="0">
                <a:solidFill>
                  <a:srgbClr val="14262A"/>
                </a:solidFill>
                <a:latin typeface="Amasis MT Pro Light" panose="02040304050005020304" pitchFamily="18" charset="0"/>
              </a:rPr>
              <a:t>: Month-to-month customers show significantly higher churn than one- and two-year contract customers, indicating that longer contracts are associated with better retention.</a:t>
            </a:r>
          </a:p>
          <a:p>
            <a:endParaRPr lang="en-US" sz="1600" dirty="0">
              <a:solidFill>
                <a:srgbClr val="14262A"/>
              </a:solidFill>
              <a:latin typeface="Amasis MT Pro Light" panose="02040304050005020304" pitchFamily="18" charset="0"/>
            </a:endParaRPr>
          </a:p>
          <a:p>
            <a:endParaRPr lang="en-US" sz="1600" dirty="0">
              <a:solidFill>
                <a:srgbClr val="5099AA"/>
              </a:solidFill>
              <a:latin typeface="Oranienbaum" panose="02000506080000020003" pitchFamily="2" charset="0"/>
            </a:endParaRPr>
          </a:p>
        </p:txBody>
      </p:sp>
      <p:sp>
        <p:nvSpPr>
          <p:cNvPr id="44" name="TextBox 43">
            <a:extLst>
              <a:ext uri="{FF2B5EF4-FFF2-40B4-BE49-F238E27FC236}">
                <a16:creationId xmlns:a16="http://schemas.microsoft.com/office/drawing/2014/main" id="{C819BB09-5048-5A6C-18FC-B1B4FDB8B8C9}"/>
              </a:ext>
            </a:extLst>
          </p:cNvPr>
          <p:cNvSpPr txBox="1"/>
          <p:nvPr/>
        </p:nvSpPr>
        <p:spPr>
          <a:xfrm>
            <a:off x="5742731" y="3582884"/>
            <a:ext cx="1221447" cy="246221"/>
          </a:xfrm>
          <a:prstGeom prst="rect">
            <a:avLst/>
          </a:prstGeom>
          <a:noFill/>
        </p:spPr>
        <p:txBody>
          <a:bodyPr wrap="square" rtlCol="0">
            <a:spAutoFit/>
          </a:bodyPr>
          <a:lstStyle/>
          <a:p>
            <a:endParaRPr lang="en-US" sz="1000" dirty="0">
              <a:solidFill>
                <a:srgbClr val="5A6B7C"/>
              </a:solidFill>
              <a:latin typeface="Amasis MT Pro Light" panose="02040304050005020304" pitchFamily="18" charset="0"/>
            </a:endParaRPr>
          </a:p>
        </p:txBody>
      </p:sp>
      <p:pic>
        <p:nvPicPr>
          <p:cNvPr id="6" name="Picture 5">
            <a:extLst>
              <a:ext uri="{FF2B5EF4-FFF2-40B4-BE49-F238E27FC236}">
                <a16:creationId xmlns:a16="http://schemas.microsoft.com/office/drawing/2014/main" id="{ECCFB1A1-B80A-5435-E8C5-187C07B632F9}"/>
              </a:ext>
            </a:extLst>
          </p:cNvPr>
          <p:cNvPicPr>
            <a:picLocks noChangeAspect="1"/>
          </p:cNvPicPr>
          <p:nvPr/>
        </p:nvPicPr>
        <p:blipFill>
          <a:blip r:embed="rId2"/>
          <a:stretch>
            <a:fillRect/>
          </a:stretch>
        </p:blipFill>
        <p:spPr>
          <a:xfrm>
            <a:off x="6113929" y="5226691"/>
            <a:ext cx="4733363" cy="3146344"/>
          </a:xfrm>
          <a:prstGeom prst="rect">
            <a:avLst/>
          </a:prstGeom>
        </p:spPr>
      </p:pic>
      <p:pic>
        <p:nvPicPr>
          <p:cNvPr id="9" name="Picture 8">
            <a:extLst>
              <a:ext uri="{FF2B5EF4-FFF2-40B4-BE49-F238E27FC236}">
                <a16:creationId xmlns:a16="http://schemas.microsoft.com/office/drawing/2014/main" id="{4F027FA5-2202-1821-1850-4D64E1BAEC0C}"/>
              </a:ext>
            </a:extLst>
          </p:cNvPr>
          <p:cNvPicPr>
            <a:picLocks noChangeAspect="1"/>
          </p:cNvPicPr>
          <p:nvPr/>
        </p:nvPicPr>
        <p:blipFill>
          <a:blip r:embed="rId3"/>
          <a:stretch>
            <a:fillRect/>
          </a:stretch>
        </p:blipFill>
        <p:spPr>
          <a:xfrm>
            <a:off x="945568" y="5226691"/>
            <a:ext cx="5168360" cy="3146344"/>
          </a:xfrm>
          <a:prstGeom prst="rect">
            <a:avLst/>
          </a:prstGeom>
        </p:spPr>
      </p:pic>
      <p:pic>
        <p:nvPicPr>
          <p:cNvPr id="15" name="Picture 14">
            <a:extLst>
              <a:ext uri="{FF2B5EF4-FFF2-40B4-BE49-F238E27FC236}">
                <a16:creationId xmlns:a16="http://schemas.microsoft.com/office/drawing/2014/main" id="{95C2A43F-FE08-D010-3205-DB6F55CDB166}"/>
              </a:ext>
            </a:extLst>
          </p:cNvPr>
          <p:cNvPicPr>
            <a:picLocks noChangeAspect="1"/>
          </p:cNvPicPr>
          <p:nvPr/>
        </p:nvPicPr>
        <p:blipFill>
          <a:blip r:embed="rId4"/>
          <a:stretch>
            <a:fillRect/>
          </a:stretch>
        </p:blipFill>
        <p:spPr>
          <a:xfrm>
            <a:off x="910944" y="1522474"/>
            <a:ext cx="4155700" cy="3267176"/>
          </a:xfrm>
          <a:prstGeom prst="rect">
            <a:avLst/>
          </a:prstGeom>
        </p:spPr>
      </p:pic>
    </p:spTree>
    <p:extLst>
      <p:ext uri="{BB962C8B-B14F-4D97-AF65-F5344CB8AC3E}">
        <p14:creationId xmlns:p14="http://schemas.microsoft.com/office/powerpoint/2010/main" val="1973911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957926" y="506309"/>
            <a:ext cx="14431588" cy="538609"/>
          </a:xfrm>
          <a:prstGeom prst="rect">
            <a:avLst/>
          </a:prstGeom>
          <a:noFill/>
        </p:spPr>
        <p:txBody>
          <a:bodyPr wrap="square" rtlCol="0">
            <a:spAutoFit/>
          </a:bodyPr>
          <a:lstStyle/>
          <a:p>
            <a:r>
              <a:rPr lang="en-US" sz="2900" dirty="0">
                <a:solidFill>
                  <a:srgbClr val="14262A"/>
                </a:solidFill>
                <a:latin typeface="Amasis MT Pro Light" panose="02040304050005020304" pitchFamily="18" charset="0"/>
              </a:rPr>
              <a:t>Churn by Online Security and Churn by </a:t>
            </a:r>
            <a:r>
              <a:rPr lang="en-US" sz="2900" dirty="0" err="1">
                <a:solidFill>
                  <a:srgbClr val="14262A"/>
                </a:solidFill>
                <a:latin typeface="Amasis MT Pro Light" panose="02040304050005020304" pitchFamily="18" charset="0"/>
              </a:rPr>
              <a:t>StreamingTV</a:t>
            </a:r>
            <a:endParaRPr lang="en-US" sz="2900" dirty="0">
              <a:solidFill>
                <a:srgbClr val="14262A"/>
              </a:solidFill>
              <a:latin typeface="Amasis MT Pro Light" panose="02040304050005020304" pitchFamily="18" charset="0"/>
            </a:endParaRP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665985" y="693130"/>
            <a:ext cx="492441" cy="91439"/>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88F9AA9-357C-ED8C-9344-03B95F71E921}"/>
              </a:ext>
            </a:extLst>
          </p:cNvPr>
          <p:cNvSpPr/>
          <p:nvPr/>
        </p:nvSpPr>
        <p:spPr>
          <a:xfrm rot="5400000" flipV="1">
            <a:off x="3307004" y="3921592"/>
            <a:ext cx="2251882" cy="7132320"/>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F566519-C40D-110C-46CB-F8527E2FC6AF}"/>
              </a:ext>
            </a:extLst>
          </p:cNvPr>
          <p:cNvSpPr/>
          <p:nvPr/>
        </p:nvSpPr>
        <p:spPr>
          <a:xfrm rot="5400000" flipV="1">
            <a:off x="10697265" y="3921443"/>
            <a:ext cx="2251882" cy="7132618"/>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B9F9A2E-BD30-B224-436E-F7A551CE78F1}"/>
              </a:ext>
            </a:extLst>
          </p:cNvPr>
          <p:cNvSpPr txBox="1"/>
          <p:nvPr/>
        </p:nvSpPr>
        <p:spPr>
          <a:xfrm>
            <a:off x="1613647" y="6550900"/>
            <a:ext cx="6265780" cy="1200329"/>
          </a:xfrm>
          <a:prstGeom prst="rect">
            <a:avLst/>
          </a:prstGeom>
          <a:noFill/>
        </p:spPr>
        <p:txBody>
          <a:bodyPr wrap="square" rtlCol="0">
            <a:spAutoFit/>
          </a:bodyPr>
          <a:lstStyle/>
          <a:p>
            <a:r>
              <a:rPr lang="en-US" b="1" dirty="0">
                <a:solidFill>
                  <a:srgbClr val="14262A"/>
                </a:solidFill>
                <a:latin typeface="Amasis MT Pro Light" panose="02040304050005020304" pitchFamily="18" charset="0"/>
              </a:rPr>
              <a:t>Churn by Online Security: </a:t>
            </a:r>
            <a:r>
              <a:rPr lang="en-US" dirty="0">
                <a:solidFill>
                  <a:srgbClr val="14262A"/>
                </a:solidFill>
                <a:latin typeface="Amasis MT Pro Light" panose="02040304050005020304" pitchFamily="18" charset="0"/>
              </a:rPr>
              <a:t>Customers without Online Security show a higher level of churn than those with Online Security. This indicates that providing or promoting Online Security services could help improve customer retention.</a:t>
            </a:r>
          </a:p>
        </p:txBody>
      </p:sp>
      <p:sp>
        <p:nvSpPr>
          <p:cNvPr id="26" name="TextBox 25">
            <a:extLst>
              <a:ext uri="{FF2B5EF4-FFF2-40B4-BE49-F238E27FC236}">
                <a16:creationId xmlns:a16="http://schemas.microsoft.com/office/drawing/2014/main" id="{BB5E26B5-3289-075B-F653-53E48E865D31}"/>
              </a:ext>
            </a:extLst>
          </p:cNvPr>
          <p:cNvSpPr txBox="1"/>
          <p:nvPr/>
        </p:nvSpPr>
        <p:spPr>
          <a:xfrm>
            <a:off x="8475194" y="6660334"/>
            <a:ext cx="6595461" cy="1200329"/>
          </a:xfrm>
          <a:prstGeom prst="rect">
            <a:avLst/>
          </a:prstGeom>
          <a:noFill/>
        </p:spPr>
        <p:txBody>
          <a:bodyPr wrap="square" rtlCol="0">
            <a:spAutoFit/>
          </a:bodyPr>
          <a:lstStyle/>
          <a:p>
            <a:r>
              <a:rPr lang="en-US" b="1" dirty="0">
                <a:solidFill>
                  <a:srgbClr val="14262A"/>
                </a:solidFill>
                <a:latin typeface="Amasis MT Pro Light" panose="02040304050005020304" pitchFamily="18" charset="0"/>
              </a:rPr>
              <a:t>Churn by Streaming TV</a:t>
            </a:r>
            <a:r>
              <a:rPr lang="en-US" dirty="0">
                <a:solidFill>
                  <a:srgbClr val="14262A"/>
                </a:solidFill>
                <a:latin typeface="Amasis MT Pro Light" panose="02040304050005020304" pitchFamily="18" charset="0"/>
              </a:rPr>
              <a:t>: Customers who use Streaming TV have a relatively high number of churned customers compared with those who do not use the service. This suggests that Streaming TV customers may require additional engagement and retention efforts.</a:t>
            </a:r>
          </a:p>
        </p:txBody>
      </p:sp>
      <p:pic>
        <p:nvPicPr>
          <p:cNvPr id="6" name="Picture 5">
            <a:extLst>
              <a:ext uri="{FF2B5EF4-FFF2-40B4-BE49-F238E27FC236}">
                <a16:creationId xmlns:a16="http://schemas.microsoft.com/office/drawing/2014/main" id="{8B99456F-D9BC-FE1F-7EB0-8C5438985B79}"/>
              </a:ext>
            </a:extLst>
          </p:cNvPr>
          <p:cNvPicPr>
            <a:picLocks noChangeAspect="1"/>
          </p:cNvPicPr>
          <p:nvPr/>
        </p:nvPicPr>
        <p:blipFill>
          <a:blip r:embed="rId2"/>
          <a:stretch>
            <a:fillRect/>
          </a:stretch>
        </p:blipFill>
        <p:spPr>
          <a:xfrm>
            <a:off x="1029537" y="1703295"/>
            <a:ext cx="6590463" cy="3958380"/>
          </a:xfrm>
          <a:prstGeom prst="rect">
            <a:avLst/>
          </a:prstGeom>
        </p:spPr>
      </p:pic>
      <p:pic>
        <p:nvPicPr>
          <p:cNvPr id="24" name="Picture 23">
            <a:extLst>
              <a:ext uri="{FF2B5EF4-FFF2-40B4-BE49-F238E27FC236}">
                <a16:creationId xmlns:a16="http://schemas.microsoft.com/office/drawing/2014/main" id="{6A68BE1D-F3B8-3557-3F11-3CA8799F4260}"/>
              </a:ext>
            </a:extLst>
          </p:cNvPr>
          <p:cNvPicPr>
            <a:picLocks noChangeAspect="1"/>
          </p:cNvPicPr>
          <p:nvPr/>
        </p:nvPicPr>
        <p:blipFill>
          <a:blip r:embed="rId3"/>
          <a:stretch>
            <a:fillRect/>
          </a:stretch>
        </p:blipFill>
        <p:spPr>
          <a:xfrm>
            <a:off x="8256897" y="1703295"/>
            <a:ext cx="6590463" cy="3912645"/>
          </a:xfrm>
          <a:prstGeom prst="rect">
            <a:avLst/>
          </a:prstGeom>
        </p:spPr>
      </p:pic>
    </p:spTree>
    <p:extLst>
      <p:ext uri="{BB962C8B-B14F-4D97-AF65-F5344CB8AC3E}">
        <p14:creationId xmlns:p14="http://schemas.microsoft.com/office/powerpoint/2010/main" val="394713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916983" y="712820"/>
            <a:ext cx="14777427" cy="553998"/>
          </a:xfrm>
          <a:prstGeom prst="rect">
            <a:avLst/>
          </a:prstGeom>
          <a:noFill/>
        </p:spPr>
        <p:txBody>
          <a:bodyPr wrap="square" rtlCol="0">
            <a:spAutoFit/>
          </a:bodyPr>
          <a:lstStyle/>
          <a:p>
            <a:r>
              <a:rPr lang="en-US" sz="3000" dirty="0">
                <a:solidFill>
                  <a:srgbClr val="14262A"/>
                </a:solidFill>
                <a:effectLst/>
                <a:latin typeface="Amasis MT Pro Light" panose="02040304050005020304" pitchFamily="18" charset="0"/>
              </a:rPr>
              <a:t>Monthly Charges and Tenure by Customers</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621344" y="970958"/>
            <a:ext cx="450411"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5EF5C2-2369-8F8B-51B5-077666566CFA}"/>
              </a:ext>
            </a:extLst>
          </p:cNvPr>
          <p:cNvSpPr/>
          <p:nvPr/>
        </p:nvSpPr>
        <p:spPr>
          <a:xfrm rot="5400000" flipV="1">
            <a:off x="11113328" y="441634"/>
            <a:ext cx="2684299" cy="5949960"/>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8084BA7-BE4D-7A77-E7D2-ED37AC4FBF63}"/>
              </a:ext>
            </a:extLst>
          </p:cNvPr>
          <p:cNvSpPr txBox="1"/>
          <p:nvPr/>
        </p:nvSpPr>
        <p:spPr>
          <a:xfrm>
            <a:off x="9480492" y="2486912"/>
            <a:ext cx="5674194" cy="1754326"/>
          </a:xfrm>
          <a:prstGeom prst="rect">
            <a:avLst/>
          </a:prstGeom>
          <a:noFill/>
        </p:spPr>
        <p:txBody>
          <a:bodyPr wrap="square" rtlCol="0">
            <a:spAutoFit/>
          </a:bodyPr>
          <a:lstStyle/>
          <a:p>
            <a:r>
              <a:rPr lang="en-US" b="1" dirty="0">
                <a:solidFill>
                  <a:srgbClr val="14262A"/>
                </a:solidFill>
                <a:latin typeface="Amasis MT Pro Light" panose="02040304050005020304" pitchFamily="18" charset="0"/>
              </a:rPr>
              <a:t>Monthly Charges</a:t>
            </a:r>
            <a:r>
              <a:rPr lang="en-US" dirty="0">
                <a:solidFill>
                  <a:srgbClr val="14262A"/>
                </a:solidFill>
                <a:latin typeface="Amasis MT Pro Light" panose="02040304050005020304" pitchFamily="18" charset="0"/>
              </a:rPr>
              <a:t>: The distribution shows that most customers are concentrated within the lower-to-middle monthly charge ranges, while fewer customers pay very high monthly charges. This suggests that the customer base is largely made up of customers with moderate monthly bills.</a:t>
            </a:r>
            <a:endParaRPr lang="en-US" dirty="0">
              <a:solidFill>
                <a:srgbClr val="14262A"/>
              </a:solidFill>
              <a:effectLst/>
              <a:latin typeface="Amasis MT Pro Light" panose="02040304050005020304" pitchFamily="18" charset="0"/>
            </a:endParaRPr>
          </a:p>
        </p:txBody>
      </p:sp>
      <p:pic>
        <p:nvPicPr>
          <p:cNvPr id="9" name="Picture 8">
            <a:extLst>
              <a:ext uri="{FF2B5EF4-FFF2-40B4-BE49-F238E27FC236}">
                <a16:creationId xmlns:a16="http://schemas.microsoft.com/office/drawing/2014/main" id="{E44A257A-CFF1-CAF4-3A77-C303D34FC036}"/>
              </a:ext>
            </a:extLst>
          </p:cNvPr>
          <p:cNvPicPr>
            <a:picLocks noChangeAspect="1"/>
          </p:cNvPicPr>
          <p:nvPr/>
        </p:nvPicPr>
        <p:blipFill>
          <a:blip r:embed="rId2"/>
          <a:stretch>
            <a:fillRect/>
          </a:stretch>
        </p:blipFill>
        <p:spPr>
          <a:xfrm>
            <a:off x="800829" y="1411346"/>
            <a:ext cx="6478512" cy="3347418"/>
          </a:xfrm>
          <a:prstGeom prst="rect">
            <a:avLst/>
          </a:prstGeom>
        </p:spPr>
      </p:pic>
      <p:pic>
        <p:nvPicPr>
          <p:cNvPr id="16" name="Picture 15">
            <a:extLst>
              <a:ext uri="{FF2B5EF4-FFF2-40B4-BE49-F238E27FC236}">
                <a16:creationId xmlns:a16="http://schemas.microsoft.com/office/drawing/2014/main" id="{C43735E3-7D21-31FB-E5CA-22E194384AA6}"/>
              </a:ext>
            </a:extLst>
          </p:cNvPr>
          <p:cNvPicPr>
            <a:picLocks noChangeAspect="1"/>
          </p:cNvPicPr>
          <p:nvPr/>
        </p:nvPicPr>
        <p:blipFill>
          <a:blip r:embed="rId3"/>
          <a:stretch>
            <a:fillRect/>
          </a:stretch>
        </p:blipFill>
        <p:spPr>
          <a:xfrm>
            <a:off x="825542" y="5171211"/>
            <a:ext cx="6453799" cy="3022530"/>
          </a:xfrm>
          <a:prstGeom prst="rect">
            <a:avLst/>
          </a:prstGeom>
        </p:spPr>
      </p:pic>
      <p:sp>
        <p:nvSpPr>
          <p:cNvPr id="22" name="Rectangle 21">
            <a:extLst>
              <a:ext uri="{FF2B5EF4-FFF2-40B4-BE49-F238E27FC236}">
                <a16:creationId xmlns:a16="http://schemas.microsoft.com/office/drawing/2014/main" id="{A429B4CA-8990-060C-2A5B-D63DBCA7AB80}"/>
              </a:ext>
            </a:extLst>
          </p:cNvPr>
          <p:cNvSpPr/>
          <p:nvPr/>
        </p:nvSpPr>
        <p:spPr>
          <a:xfrm rot="10800000" flipV="1">
            <a:off x="9480492" y="5171211"/>
            <a:ext cx="5949959" cy="3022529"/>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14262A"/>
                </a:solidFill>
                <a:latin typeface="Amasis MT Pro Light" panose="02040304050005020304" pitchFamily="18" charset="0"/>
              </a:rPr>
              <a:t>Tenure: </a:t>
            </a:r>
            <a:r>
              <a:rPr lang="en-US" dirty="0">
                <a:solidFill>
                  <a:srgbClr val="14262A"/>
                </a:solidFill>
                <a:latin typeface="Amasis MT Pro Light" panose="02040304050005020304" pitchFamily="18" charset="0"/>
              </a:rPr>
              <a:t>The tenure distribution shows that many customers have relatively short or moderate tenure, with fewer customers staying for very long periods. This indicates that retaining newer customers should be an important priority for the company.</a:t>
            </a:r>
          </a:p>
        </p:txBody>
      </p:sp>
    </p:spTree>
    <p:extLst>
      <p:ext uri="{BB962C8B-B14F-4D97-AF65-F5344CB8AC3E}">
        <p14:creationId xmlns:p14="http://schemas.microsoft.com/office/powerpoint/2010/main" val="3368208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1658571" y="615256"/>
            <a:ext cx="5995493" cy="707886"/>
          </a:xfrm>
          <a:prstGeom prst="rect">
            <a:avLst/>
          </a:prstGeom>
          <a:noFill/>
        </p:spPr>
        <p:txBody>
          <a:bodyPr wrap="square" rtlCol="0">
            <a:spAutoFit/>
          </a:bodyPr>
          <a:lstStyle/>
          <a:p>
            <a:r>
              <a:rPr lang="en-US" sz="4000" dirty="0">
                <a:solidFill>
                  <a:srgbClr val="14262A"/>
                </a:solidFill>
                <a:latin typeface="Amasis MT Pro Light" panose="02040304050005020304" pitchFamily="18" charset="0"/>
              </a:rPr>
              <a:t>Churn by Payment Method </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1239274" y="923479"/>
            <a:ext cx="574161"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BD112CD-F798-38BA-0243-ECC07AE9DDEA}"/>
              </a:ext>
            </a:extLst>
          </p:cNvPr>
          <p:cNvSpPr/>
          <p:nvPr/>
        </p:nvSpPr>
        <p:spPr>
          <a:xfrm rot="5400000" flipV="1">
            <a:off x="3669395" y="3484445"/>
            <a:ext cx="2450671" cy="7637929"/>
          </a:xfrm>
          <a:prstGeom prst="rect">
            <a:avLst/>
          </a:prstGeom>
          <a:solidFill>
            <a:srgbClr val="EDE8E0"/>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584C2679-CB22-E9DE-CF31-005D318300CA}"/>
              </a:ext>
            </a:extLst>
          </p:cNvPr>
          <p:cNvPicPr>
            <a:picLocks noChangeAspect="1"/>
          </p:cNvPicPr>
          <p:nvPr/>
        </p:nvPicPr>
        <p:blipFill>
          <a:blip r:embed="rId2"/>
          <a:stretch>
            <a:fillRect/>
          </a:stretch>
        </p:blipFill>
        <p:spPr>
          <a:xfrm>
            <a:off x="1162284" y="1810870"/>
            <a:ext cx="7551410" cy="3934813"/>
          </a:xfrm>
          <a:prstGeom prst="rect">
            <a:avLst/>
          </a:prstGeom>
        </p:spPr>
      </p:pic>
      <p:sp>
        <p:nvSpPr>
          <p:cNvPr id="6" name="TextBox 5">
            <a:extLst>
              <a:ext uri="{FF2B5EF4-FFF2-40B4-BE49-F238E27FC236}">
                <a16:creationId xmlns:a16="http://schemas.microsoft.com/office/drawing/2014/main" id="{57E0598C-DD69-0025-378F-83FED517C6D9}"/>
              </a:ext>
            </a:extLst>
          </p:cNvPr>
          <p:cNvSpPr txBox="1"/>
          <p:nvPr/>
        </p:nvSpPr>
        <p:spPr>
          <a:xfrm>
            <a:off x="1075766" y="6300273"/>
            <a:ext cx="7386918" cy="1200329"/>
          </a:xfrm>
          <a:prstGeom prst="rect">
            <a:avLst/>
          </a:prstGeom>
          <a:noFill/>
        </p:spPr>
        <p:txBody>
          <a:bodyPr wrap="square" rtlCol="0">
            <a:spAutoFit/>
          </a:bodyPr>
          <a:lstStyle/>
          <a:p>
            <a:r>
              <a:rPr lang="en-US" b="1" dirty="0">
                <a:solidFill>
                  <a:srgbClr val="14262A"/>
                </a:solidFill>
                <a:latin typeface="Amasis MT Pro Light" panose="02040304050005020304" pitchFamily="18" charset="0"/>
              </a:rPr>
              <a:t>Payment Method: </a:t>
            </a:r>
            <a:r>
              <a:rPr lang="en-US" dirty="0">
                <a:solidFill>
                  <a:srgbClr val="14262A"/>
                </a:solidFill>
                <a:latin typeface="Amasis MT Pro Light" panose="02040304050005020304" pitchFamily="18" charset="0"/>
              </a:rPr>
              <a:t>Electronic-check customers have the highest</a:t>
            </a:r>
          </a:p>
          <a:p>
            <a:r>
              <a:rPr lang="en-US" dirty="0">
                <a:solidFill>
                  <a:srgbClr val="14262A"/>
                </a:solidFill>
                <a:latin typeface="Amasis MT Pro Light" panose="02040304050005020304" pitchFamily="18" charset="0"/>
              </a:rPr>
              <a:t> churn, suggesting the need to investigate and address possible</a:t>
            </a:r>
          </a:p>
          <a:p>
            <a:r>
              <a:rPr lang="en-US" dirty="0">
                <a:solidFill>
                  <a:srgbClr val="14262A"/>
                </a:solidFill>
                <a:latin typeface="Amasis MT Pro Light" panose="02040304050005020304" pitchFamily="18" charset="0"/>
              </a:rPr>
              <a:t> issues affecting this payment group.</a:t>
            </a:r>
          </a:p>
          <a:p>
            <a:endParaRPr lang="en-US" dirty="0"/>
          </a:p>
        </p:txBody>
      </p:sp>
    </p:spTree>
    <p:extLst>
      <p:ext uri="{BB962C8B-B14F-4D97-AF65-F5344CB8AC3E}">
        <p14:creationId xmlns:p14="http://schemas.microsoft.com/office/powerpoint/2010/main" val="583316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25984-9AC4-8A99-7272-DCFB945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BD6418C3-3E3D-F973-0F8E-BCF2BBB5AD8B}"/>
              </a:ext>
            </a:extLst>
          </p:cNvPr>
          <p:cNvSpPr/>
          <p:nvPr/>
        </p:nvSpPr>
        <p:spPr>
          <a:xfrm>
            <a:off x="-14732" y="0"/>
            <a:ext cx="16285464"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772BAB4-74F4-16E9-6752-3E8E51628603}"/>
              </a:ext>
            </a:extLst>
          </p:cNvPr>
          <p:cNvSpPr txBox="1"/>
          <p:nvPr/>
        </p:nvSpPr>
        <p:spPr>
          <a:xfrm>
            <a:off x="3329875" y="1771443"/>
            <a:ext cx="1358493" cy="1015663"/>
          </a:xfrm>
          <a:prstGeom prst="rect">
            <a:avLst/>
          </a:prstGeom>
          <a:noFill/>
        </p:spPr>
        <p:txBody>
          <a:bodyPr wrap="square" rtlCol="0">
            <a:spAutoFit/>
          </a:bodyPr>
          <a:lstStyle/>
          <a:p>
            <a:pPr algn="ctr"/>
            <a:r>
              <a:rPr lang="en-US" sz="6000" b="1" dirty="0">
                <a:solidFill>
                  <a:srgbClr val="5099AA"/>
                </a:solidFill>
                <a:latin typeface="Oranienbaum" panose="02000506080000020003" pitchFamily="2" charset="0"/>
              </a:rPr>
              <a:t>04.</a:t>
            </a:r>
          </a:p>
        </p:txBody>
      </p:sp>
      <p:sp>
        <p:nvSpPr>
          <p:cNvPr id="10" name="Rectangle 9">
            <a:extLst>
              <a:ext uri="{FF2B5EF4-FFF2-40B4-BE49-F238E27FC236}">
                <a16:creationId xmlns:a16="http://schemas.microsoft.com/office/drawing/2014/main" id="{1209BBD8-3BDC-4A36-C248-B7D83467B8FF}"/>
              </a:ext>
            </a:extLst>
          </p:cNvPr>
          <p:cNvSpPr/>
          <p:nvPr/>
        </p:nvSpPr>
        <p:spPr>
          <a:xfrm flipV="1">
            <a:off x="3649198" y="2767116"/>
            <a:ext cx="719848" cy="118872"/>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50BF5B6-C788-121F-49FF-3EC510C9719E}"/>
              </a:ext>
            </a:extLst>
          </p:cNvPr>
          <p:cNvSpPr txBox="1"/>
          <p:nvPr/>
        </p:nvSpPr>
        <p:spPr>
          <a:xfrm>
            <a:off x="3329875" y="3043725"/>
            <a:ext cx="9880568" cy="1323439"/>
          </a:xfrm>
          <a:prstGeom prst="rect">
            <a:avLst/>
          </a:prstGeom>
          <a:noFill/>
        </p:spPr>
        <p:txBody>
          <a:bodyPr wrap="square" rtlCol="0">
            <a:spAutoFit/>
          </a:bodyPr>
          <a:lstStyle/>
          <a:p>
            <a:pPr algn="ctr"/>
            <a:r>
              <a:rPr lang="en-US" sz="4000" dirty="0">
                <a:solidFill>
                  <a:schemeClr val="bg1"/>
                </a:solidFill>
                <a:latin typeface="Amasis MT Pro Light" panose="02040304050005020304" pitchFamily="18" charset="0"/>
              </a:rPr>
              <a:t>Business Risk, Business Opportunity and Practical Recommendations</a:t>
            </a:r>
          </a:p>
        </p:txBody>
      </p:sp>
      <p:sp>
        <p:nvSpPr>
          <p:cNvPr id="6" name="TextBox 5">
            <a:extLst>
              <a:ext uri="{FF2B5EF4-FFF2-40B4-BE49-F238E27FC236}">
                <a16:creationId xmlns:a16="http://schemas.microsoft.com/office/drawing/2014/main" id="{3A355001-5CAC-94C0-4695-11FEDC2246D0}"/>
              </a:ext>
            </a:extLst>
          </p:cNvPr>
          <p:cNvSpPr txBox="1"/>
          <p:nvPr/>
        </p:nvSpPr>
        <p:spPr>
          <a:xfrm>
            <a:off x="4009121" y="4571106"/>
            <a:ext cx="6264432" cy="880369"/>
          </a:xfrm>
          <a:prstGeom prst="rect">
            <a:avLst/>
          </a:prstGeom>
          <a:noFill/>
        </p:spPr>
        <p:txBody>
          <a:bodyPr wrap="square" rtlCol="0">
            <a:spAutoFit/>
          </a:bodyPr>
          <a:lstStyle/>
          <a:p>
            <a:pPr algn="l">
              <a:lnSpc>
                <a:spcPct val="150000"/>
              </a:lnSpc>
            </a:pPr>
            <a:r>
              <a:rPr lang="en-US"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Strategic recommendations for reducing churn and improving customer loyalty through data-driven insights.</a:t>
            </a:r>
          </a:p>
        </p:txBody>
      </p:sp>
      <p:sp>
        <p:nvSpPr>
          <p:cNvPr id="7" name="Rectangle 6">
            <a:extLst>
              <a:ext uri="{FF2B5EF4-FFF2-40B4-BE49-F238E27FC236}">
                <a16:creationId xmlns:a16="http://schemas.microsoft.com/office/drawing/2014/main" id="{9DF7F4C1-BC91-0623-E5D5-F1560E10DA07}"/>
              </a:ext>
            </a:extLst>
          </p:cNvPr>
          <p:cNvSpPr/>
          <p:nvPr/>
        </p:nvSpPr>
        <p:spPr>
          <a:xfrm rot="5400000" flipV="1">
            <a:off x="3414139" y="3234633"/>
            <a:ext cx="592277" cy="122167"/>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8953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38FB7-9F29-B65E-2E10-1F58AB0A0DBE}"/>
              </a:ext>
            </a:extLst>
          </p:cNvPr>
          <p:cNvSpPr txBox="1"/>
          <p:nvPr/>
        </p:nvSpPr>
        <p:spPr>
          <a:xfrm>
            <a:off x="1658572" y="429905"/>
            <a:ext cx="13116793" cy="646331"/>
          </a:xfrm>
          <a:prstGeom prst="rect">
            <a:avLst/>
          </a:prstGeom>
          <a:noFill/>
        </p:spPr>
        <p:txBody>
          <a:bodyPr wrap="square" rtlCol="0">
            <a:spAutoFit/>
          </a:bodyPr>
          <a:lstStyle/>
          <a:p>
            <a:r>
              <a:rPr lang="en-US" sz="3600" dirty="0">
                <a:latin typeface="Amasis MT Pro Light" panose="02040304050005020304" pitchFamily="18" charset="0"/>
              </a:rPr>
              <a:t>Business Risk</a:t>
            </a:r>
          </a:p>
        </p:txBody>
      </p:sp>
      <p:sp>
        <p:nvSpPr>
          <p:cNvPr id="5" name="Rectangle 4">
            <a:extLst>
              <a:ext uri="{FF2B5EF4-FFF2-40B4-BE49-F238E27FC236}">
                <a16:creationId xmlns:a16="http://schemas.microsoft.com/office/drawing/2014/main" id="{10092EF7-4697-3B8A-85FC-1DF51257E280}"/>
              </a:ext>
            </a:extLst>
          </p:cNvPr>
          <p:cNvSpPr/>
          <p:nvPr/>
        </p:nvSpPr>
        <p:spPr>
          <a:xfrm rot="5400000" flipV="1">
            <a:off x="1239275" y="738128"/>
            <a:ext cx="574161"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7016B0E-7F1B-1F96-6CB2-FDE023E02AF2}"/>
              </a:ext>
            </a:extLst>
          </p:cNvPr>
          <p:cNvSpPr/>
          <p:nvPr/>
        </p:nvSpPr>
        <p:spPr>
          <a:xfrm rot="5400000" flipV="1">
            <a:off x="2110983" y="1053019"/>
            <a:ext cx="2942066" cy="4202756"/>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649DBD-D66B-37A1-0654-67B175D6FE2F}"/>
              </a:ext>
            </a:extLst>
          </p:cNvPr>
          <p:cNvSpPr/>
          <p:nvPr/>
        </p:nvSpPr>
        <p:spPr>
          <a:xfrm rot="5400000" flipV="1">
            <a:off x="6541090" y="1024562"/>
            <a:ext cx="2888636" cy="4206240"/>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06BAA84-26B9-351F-EE1E-4A8A1EE44B0D}"/>
              </a:ext>
            </a:extLst>
          </p:cNvPr>
          <p:cNvSpPr/>
          <p:nvPr/>
        </p:nvSpPr>
        <p:spPr>
          <a:xfrm rot="5400000" flipV="1">
            <a:off x="10916025" y="1051276"/>
            <a:ext cx="2942063" cy="4206240"/>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B2EB6F0-FF5F-4453-72A9-CEF1CA63FA7B}"/>
              </a:ext>
            </a:extLst>
          </p:cNvPr>
          <p:cNvSpPr/>
          <p:nvPr/>
        </p:nvSpPr>
        <p:spPr>
          <a:xfrm rot="5400000" flipV="1">
            <a:off x="2157631" y="5140434"/>
            <a:ext cx="2845287" cy="4206240"/>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5F6D197D-24FB-F8BD-DE32-DAC9BED3E017}"/>
              </a:ext>
            </a:extLst>
          </p:cNvPr>
          <p:cNvSpPr/>
          <p:nvPr/>
        </p:nvSpPr>
        <p:spPr>
          <a:xfrm rot="5400000" flipV="1">
            <a:off x="6561023" y="5142177"/>
            <a:ext cx="2845286" cy="4202756"/>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5B6D898-4146-C9E8-C8D9-954F7EF68724}"/>
              </a:ext>
            </a:extLst>
          </p:cNvPr>
          <p:cNvSpPr txBox="1"/>
          <p:nvPr/>
        </p:nvSpPr>
        <p:spPr>
          <a:xfrm>
            <a:off x="1612089" y="2541753"/>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01.</a:t>
            </a:r>
          </a:p>
        </p:txBody>
      </p:sp>
      <p:sp>
        <p:nvSpPr>
          <p:cNvPr id="27" name="TextBox 26">
            <a:extLst>
              <a:ext uri="{FF2B5EF4-FFF2-40B4-BE49-F238E27FC236}">
                <a16:creationId xmlns:a16="http://schemas.microsoft.com/office/drawing/2014/main" id="{9455E996-0DF6-FA7C-486E-2EB1714BC832}"/>
              </a:ext>
            </a:extLst>
          </p:cNvPr>
          <p:cNvSpPr txBox="1"/>
          <p:nvPr/>
        </p:nvSpPr>
        <p:spPr>
          <a:xfrm>
            <a:off x="1834098" y="3309270"/>
            <a:ext cx="3747872" cy="81657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kern="100" dirty="0">
                <a:latin typeface="Amasis MT Pro Light" panose="02040304050005020304" pitchFamily="18" charset="0"/>
                <a:cs typeface="Times New Roman" panose="02020603050405020304" pitchFamily="18" charset="0"/>
              </a:rPr>
              <a:t>A 26.50% churn rate means the company is losing a significant number of customers and recurring revenue.</a:t>
            </a:r>
          </a:p>
        </p:txBody>
      </p:sp>
      <p:sp>
        <p:nvSpPr>
          <p:cNvPr id="28" name="TextBox 27">
            <a:extLst>
              <a:ext uri="{FF2B5EF4-FFF2-40B4-BE49-F238E27FC236}">
                <a16:creationId xmlns:a16="http://schemas.microsoft.com/office/drawing/2014/main" id="{BCB912C7-EBB8-176A-6432-D54BED16AD73}"/>
              </a:ext>
            </a:extLst>
          </p:cNvPr>
          <p:cNvSpPr txBox="1"/>
          <p:nvPr/>
        </p:nvSpPr>
        <p:spPr>
          <a:xfrm>
            <a:off x="2283754" y="2591446"/>
            <a:ext cx="3245904" cy="343043"/>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kern="100" dirty="0">
                <a:effectLst/>
                <a:latin typeface="Aptos" panose="020B0004020202020204" pitchFamily="34" charset="0"/>
                <a:ea typeface="Aptos" panose="020B0004020202020204" pitchFamily="34" charset="0"/>
                <a:cs typeface="Times New Roman" panose="02020603050405020304" pitchFamily="18" charset="0"/>
              </a:rPr>
              <a:t>Revenue Loss</a:t>
            </a:r>
          </a:p>
        </p:txBody>
      </p:sp>
      <p:sp>
        <p:nvSpPr>
          <p:cNvPr id="29" name="Rectangle 28">
            <a:extLst>
              <a:ext uri="{FF2B5EF4-FFF2-40B4-BE49-F238E27FC236}">
                <a16:creationId xmlns:a16="http://schemas.microsoft.com/office/drawing/2014/main" id="{044CDA09-ECF8-A7AA-DF3E-17954F9A9A08}"/>
              </a:ext>
            </a:extLst>
          </p:cNvPr>
          <p:cNvSpPr/>
          <p:nvPr/>
        </p:nvSpPr>
        <p:spPr>
          <a:xfrm rot="5400000" flipV="1">
            <a:off x="1342874" y="3719110"/>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BECEF603-AA9C-4500-299C-B31BC19E7BCF}"/>
              </a:ext>
            </a:extLst>
          </p:cNvPr>
          <p:cNvSpPr txBox="1"/>
          <p:nvPr/>
        </p:nvSpPr>
        <p:spPr>
          <a:xfrm>
            <a:off x="6032056" y="2386294"/>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02.</a:t>
            </a:r>
          </a:p>
        </p:txBody>
      </p:sp>
      <p:sp>
        <p:nvSpPr>
          <p:cNvPr id="31" name="TextBox 30">
            <a:extLst>
              <a:ext uri="{FF2B5EF4-FFF2-40B4-BE49-F238E27FC236}">
                <a16:creationId xmlns:a16="http://schemas.microsoft.com/office/drawing/2014/main" id="{D0C9E511-7EE8-1627-8AE0-4BE4CD4E8483}"/>
              </a:ext>
            </a:extLst>
          </p:cNvPr>
          <p:cNvSpPr txBox="1"/>
          <p:nvPr/>
        </p:nvSpPr>
        <p:spPr>
          <a:xfrm>
            <a:off x="6254065" y="3153811"/>
            <a:ext cx="3747872" cy="574132"/>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dirty="0"/>
              <a:t>Replacing customers who leave can increase marketing and acquisition expenses.</a:t>
            </a:r>
            <a:endParaRPr lang="en-US" sz="1400" dirty="0">
              <a:latin typeface="Amasis MT Pro Light" panose="020403040500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DD4B029B-6D34-E8EF-692A-E055E1C7A6E0}"/>
              </a:ext>
            </a:extLst>
          </p:cNvPr>
          <p:cNvSpPr txBox="1"/>
          <p:nvPr/>
        </p:nvSpPr>
        <p:spPr>
          <a:xfrm>
            <a:off x="6747675" y="2600496"/>
            <a:ext cx="3245904" cy="34471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dirty="0"/>
              <a:t>High customer acquisition costs</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3" name="Rectangle 32">
            <a:extLst>
              <a:ext uri="{FF2B5EF4-FFF2-40B4-BE49-F238E27FC236}">
                <a16:creationId xmlns:a16="http://schemas.microsoft.com/office/drawing/2014/main" id="{801B55CF-692B-1112-37FE-393D4FDBC0DD}"/>
              </a:ext>
            </a:extLst>
          </p:cNvPr>
          <p:cNvSpPr/>
          <p:nvPr/>
        </p:nvSpPr>
        <p:spPr>
          <a:xfrm rot="5400000" flipV="1">
            <a:off x="5762841" y="3599511"/>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A7316F23-EC6A-8B65-EFA8-F5959A7E6BCC}"/>
              </a:ext>
            </a:extLst>
          </p:cNvPr>
          <p:cNvSpPr txBox="1"/>
          <p:nvPr/>
        </p:nvSpPr>
        <p:spPr>
          <a:xfrm>
            <a:off x="10452023" y="2521030"/>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03.</a:t>
            </a:r>
          </a:p>
        </p:txBody>
      </p:sp>
      <p:sp>
        <p:nvSpPr>
          <p:cNvPr id="35" name="TextBox 34">
            <a:extLst>
              <a:ext uri="{FF2B5EF4-FFF2-40B4-BE49-F238E27FC236}">
                <a16:creationId xmlns:a16="http://schemas.microsoft.com/office/drawing/2014/main" id="{E006A151-D459-AF32-6EF8-65990EADF546}"/>
              </a:ext>
            </a:extLst>
          </p:cNvPr>
          <p:cNvSpPr txBox="1"/>
          <p:nvPr/>
        </p:nvSpPr>
        <p:spPr>
          <a:xfrm>
            <a:off x="10674032" y="3306476"/>
            <a:ext cx="3747872" cy="1318951"/>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kern="100" dirty="0">
                <a:latin typeface="Aptos" panose="020B0004020202020204" pitchFamily="34" charset="0"/>
                <a:ea typeface="Aptos" panose="020B0004020202020204" pitchFamily="34" charset="0"/>
                <a:cs typeface="Times New Roman" panose="02020603050405020304" pitchFamily="18" charset="0"/>
              </a:rPr>
              <a:t>Customer loyalty and competitive risk: Continued churn, particularly among month-to-month and fiber optic customers, may indicate dissatisfaction and could allow competitors to capture these customers.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6" name="TextBox 35">
            <a:extLst>
              <a:ext uri="{FF2B5EF4-FFF2-40B4-BE49-F238E27FC236}">
                <a16:creationId xmlns:a16="http://schemas.microsoft.com/office/drawing/2014/main" id="{87E1FF00-CA64-CC1C-2B1D-545CEAC85B3A}"/>
              </a:ext>
            </a:extLst>
          </p:cNvPr>
          <p:cNvSpPr txBox="1"/>
          <p:nvPr/>
        </p:nvSpPr>
        <p:spPr>
          <a:xfrm>
            <a:off x="11140165" y="2707100"/>
            <a:ext cx="3245904" cy="610167"/>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kern="100" dirty="0">
                <a:latin typeface="Aptos" panose="020B0004020202020204" pitchFamily="34" charset="0"/>
                <a:ea typeface="Aptos" panose="020B0004020202020204" pitchFamily="34" charset="0"/>
                <a:cs typeface="Times New Roman" panose="02020603050405020304" pitchFamily="18" charset="0"/>
              </a:rPr>
              <a:t>Customer loyalty and competitive risk</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7" name="Rectangle 36">
            <a:extLst>
              <a:ext uri="{FF2B5EF4-FFF2-40B4-BE49-F238E27FC236}">
                <a16:creationId xmlns:a16="http://schemas.microsoft.com/office/drawing/2014/main" id="{2A2988AA-0BDD-730E-8B1D-9B8CF4354622}"/>
              </a:ext>
            </a:extLst>
          </p:cNvPr>
          <p:cNvSpPr/>
          <p:nvPr/>
        </p:nvSpPr>
        <p:spPr>
          <a:xfrm rot="5400000" flipV="1">
            <a:off x="10182808" y="3770107"/>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F1670865-C943-AE5B-8DCC-5799B72B7CDF}"/>
              </a:ext>
            </a:extLst>
          </p:cNvPr>
          <p:cNvSpPr txBox="1"/>
          <p:nvPr/>
        </p:nvSpPr>
        <p:spPr>
          <a:xfrm>
            <a:off x="1658572" y="6595812"/>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01</a:t>
            </a:r>
          </a:p>
        </p:txBody>
      </p:sp>
      <p:sp>
        <p:nvSpPr>
          <p:cNvPr id="39" name="TextBox 38">
            <a:extLst>
              <a:ext uri="{FF2B5EF4-FFF2-40B4-BE49-F238E27FC236}">
                <a16:creationId xmlns:a16="http://schemas.microsoft.com/office/drawing/2014/main" id="{2A5541A0-438F-30F6-A750-1B3556F366F4}"/>
              </a:ext>
            </a:extLst>
          </p:cNvPr>
          <p:cNvSpPr txBox="1"/>
          <p:nvPr/>
        </p:nvSpPr>
        <p:spPr>
          <a:xfrm>
            <a:off x="1880581" y="7363329"/>
            <a:ext cx="3747872" cy="1071191"/>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kern="100" dirty="0">
                <a:latin typeface="Aptos" panose="020B0004020202020204" pitchFamily="34" charset="0"/>
                <a:ea typeface="Aptos" panose="020B0004020202020204" pitchFamily="34" charset="0"/>
                <a:cs typeface="Times New Roman" panose="02020603050405020304" pitchFamily="18" charset="0"/>
              </a:rPr>
              <a:t>Use customer data to identify customers most likely to churn and provide personalized offers, service improvements, or proactive support before they leave.</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0" name="TextBox 39">
            <a:extLst>
              <a:ext uri="{FF2B5EF4-FFF2-40B4-BE49-F238E27FC236}">
                <a16:creationId xmlns:a16="http://schemas.microsoft.com/office/drawing/2014/main" id="{28540181-BD83-23C3-F56E-AD68BA847CD5}"/>
              </a:ext>
            </a:extLst>
          </p:cNvPr>
          <p:cNvSpPr txBox="1"/>
          <p:nvPr/>
        </p:nvSpPr>
        <p:spPr>
          <a:xfrm>
            <a:off x="2437490" y="6648133"/>
            <a:ext cx="3144480" cy="610167"/>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kern="100" dirty="0">
                <a:latin typeface="Aptos" panose="020B0004020202020204" pitchFamily="34" charset="0"/>
                <a:ea typeface="Aptos" panose="020B0004020202020204" pitchFamily="34" charset="0"/>
                <a:cs typeface="Times New Roman" panose="02020603050405020304" pitchFamily="18" charset="0"/>
              </a:rPr>
              <a:t>Target high-risk customers with retention campaigns</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1" name="Rectangle 40">
            <a:extLst>
              <a:ext uri="{FF2B5EF4-FFF2-40B4-BE49-F238E27FC236}">
                <a16:creationId xmlns:a16="http://schemas.microsoft.com/office/drawing/2014/main" id="{A8008EDE-6720-0DD7-1238-78AF190DE787}"/>
              </a:ext>
            </a:extLst>
          </p:cNvPr>
          <p:cNvSpPr/>
          <p:nvPr/>
        </p:nvSpPr>
        <p:spPr>
          <a:xfrm rot="5400000" flipV="1">
            <a:off x="1389357" y="7898674"/>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4A9F128-997C-1602-3751-8E811CC6A025}"/>
              </a:ext>
            </a:extLst>
          </p:cNvPr>
          <p:cNvSpPr txBox="1"/>
          <p:nvPr/>
        </p:nvSpPr>
        <p:spPr>
          <a:xfrm>
            <a:off x="6078109" y="6184866"/>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02.</a:t>
            </a:r>
          </a:p>
        </p:txBody>
      </p:sp>
      <p:sp>
        <p:nvSpPr>
          <p:cNvPr id="43" name="TextBox 42">
            <a:extLst>
              <a:ext uri="{FF2B5EF4-FFF2-40B4-BE49-F238E27FC236}">
                <a16:creationId xmlns:a16="http://schemas.microsoft.com/office/drawing/2014/main" id="{69057BA9-B397-3EDB-A40A-3DC2CF426583}"/>
              </a:ext>
            </a:extLst>
          </p:cNvPr>
          <p:cNvSpPr txBox="1"/>
          <p:nvPr/>
        </p:nvSpPr>
        <p:spPr>
          <a:xfrm>
            <a:off x="6300118" y="6952383"/>
            <a:ext cx="3747872" cy="823431"/>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kern="100" dirty="0">
                <a:latin typeface="Aptos" panose="020B0004020202020204" pitchFamily="34" charset="0"/>
                <a:ea typeface="Aptos" panose="020B0004020202020204" pitchFamily="34" charset="0"/>
                <a:cs typeface="Times New Roman" panose="02020603050405020304" pitchFamily="18" charset="0"/>
              </a:rPr>
              <a:t>Promote services such as online security and device protection to improve customer value and potentially strengthen retention.</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4" name="TextBox 43">
            <a:extLst>
              <a:ext uri="{FF2B5EF4-FFF2-40B4-BE49-F238E27FC236}">
                <a16:creationId xmlns:a16="http://schemas.microsoft.com/office/drawing/2014/main" id="{53E0F7FB-99B0-1CF5-3F3F-38F8D68B03DA}"/>
              </a:ext>
            </a:extLst>
          </p:cNvPr>
          <p:cNvSpPr txBox="1"/>
          <p:nvPr/>
        </p:nvSpPr>
        <p:spPr>
          <a:xfrm>
            <a:off x="6831391" y="6233564"/>
            <a:ext cx="3245904" cy="610167"/>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kern="100" dirty="0">
                <a:latin typeface="Aptos" panose="020B0004020202020204" pitchFamily="34" charset="0"/>
                <a:ea typeface="Aptos" panose="020B0004020202020204" pitchFamily="34" charset="0"/>
                <a:cs typeface="Times New Roman" panose="02020603050405020304" pitchFamily="18" charset="0"/>
              </a:rPr>
              <a:t>Increase value-added service adoption</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5" name="Rectangle 44">
            <a:extLst>
              <a:ext uri="{FF2B5EF4-FFF2-40B4-BE49-F238E27FC236}">
                <a16:creationId xmlns:a16="http://schemas.microsoft.com/office/drawing/2014/main" id="{7119F272-02A6-46FF-001E-39442A1E9AAF}"/>
              </a:ext>
            </a:extLst>
          </p:cNvPr>
          <p:cNvSpPr/>
          <p:nvPr/>
        </p:nvSpPr>
        <p:spPr>
          <a:xfrm rot="5400000" flipV="1">
            <a:off x="5808894" y="7487728"/>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9370989-3FE6-18E4-7D97-0DD964E08594}"/>
              </a:ext>
            </a:extLst>
          </p:cNvPr>
          <p:cNvSpPr/>
          <p:nvPr/>
        </p:nvSpPr>
        <p:spPr>
          <a:xfrm rot="10800000" flipV="1">
            <a:off x="10423130" y="5800859"/>
            <a:ext cx="4202757" cy="2845286"/>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kern="100" dirty="0">
                <a:solidFill>
                  <a:schemeClr val="tx1"/>
                </a:solidFill>
                <a:latin typeface="Aptos" panose="020B0004020202020204" pitchFamily="34" charset="0"/>
                <a:ea typeface="Aptos" panose="020B0004020202020204" pitchFamily="34" charset="0"/>
                <a:cs typeface="Times New Roman" panose="02020603050405020304" pitchFamily="18" charset="0"/>
              </a:rPr>
              <a:t>     Offer discounts, loyalty rewards, or other      incentives to encourage month-to-month                  customers to move to one- or two-year contracts.</a:t>
            </a:r>
          </a:p>
          <a:p>
            <a:endParaRPr lang="en-US" sz="1400" dirty="0">
              <a:solidFill>
                <a:schemeClr val="tx1"/>
              </a:solidFill>
            </a:endParaRPr>
          </a:p>
        </p:txBody>
      </p:sp>
      <p:sp>
        <p:nvSpPr>
          <p:cNvPr id="8" name="TextBox 7">
            <a:extLst>
              <a:ext uri="{FF2B5EF4-FFF2-40B4-BE49-F238E27FC236}">
                <a16:creationId xmlns:a16="http://schemas.microsoft.com/office/drawing/2014/main" id="{DFC1404B-B276-6052-8B12-E237A740BFD4}"/>
              </a:ext>
            </a:extLst>
          </p:cNvPr>
          <p:cNvSpPr txBox="1"/>
          <p:nvPr/>
        </p:nvSpPr>
        <p:spPr>
          <a:xfrm>
            <a:off x="10531934" y="6099522"/>
            <a:ext cx="8130988" cy="707886"/>
          </a:xfrm>
          <a:prstGeom prst="rect">
            <a:avLst/>
          </a:prstGeom>
          <a:noFill/>
        </p:spPr>
        <p:txBody>
          <a:bodyPr wrap="square">
            <a:spAutoFit/>
          </a:bodyPr>
          <a:lstStyle/>
          <a:p>
            <a:r>
              <a:rPr lang="en-US" sz="4000" b="1" dirty="0">
                <a:solidFill>
                  <a:srgbClr val="5099AA"/>
                </a:solidFill>
                <a:latin typeface="Oranienbaum" panose="02000506080000020003" pitchFamily="2" charset="0"/>
              </a:rPr>
              <a:t>03.</a:t>
            </a:r>
            <a:endParaRPr lang="en-US" dirty="0"/>
          </a:p>
        </p:txBody>
      </p:sp>
      <p:sp>
        <p:nvSpPr>
          <p:cNvPr id="11" name="TextBox 10">
            <a:extLst>
              <a:ext uri="{FF2B5EF4-FFF2-40B4-BE49-F238E27FC236}">
                <a16:creationId xmlns:a16="http://schemas.microsoft.com/office/drawing/2014/main" id="{B11E8DB3-C4C3-449E-B03D-B49E952981D2}"/>
              </a:ext>
            </a:extLst>
          </p:cNvPr>
          <p:cNvSpPr txBox="1"/>
          <p:nvPr/>
        </p:nvSpPr>
        <p:spPr>
          <a:xfrm>
            <a:off x="1612089" y="4911987"/>
            <a:ext cx="6741458" cy="1200329"/>
          </a:xfrm>
          <a:prstGeom prst="rect">
            <a:avLst/>
          </a:prstGeom>
          <a:noFill/>
        </p:spPr>
        <p:txBody>
          <a:bodyPr wrap="square" rtlCol="0">
            <a:spAutoFit/>
          </a:bodyPr>
          <a:lstStyle/>
          <a:p>
            <a:r>
              <a:rPr lang="en-US" sz="3600" dirty="0">
                <a:latin typeface="Amasis MT Pro Light" panose="02040304050005020304" pitchFamily="18" charset="0"/>
              </a:rPr>
              <a:t>Business Opportunity</a:t>
            </a:r>
          </a:p>
          <a:p>
            <a:endParaRPr lang="en-US" sz="3600" dirty="0"/>
          </a:p>
        </p:txBody>
      </p:sp>
      <p:sp>
        <p:nvSpPr>
          <p:cNvPr id="13" name="Rectangle 12">
            <a:extLst>
              <a:ext uri="{FF2B5EF4-FFF2-40B4-BE49-F238E27FC236}">
                <a16:creationId xmlns:a16="http://schemas.microsoft.com/office/drawing/2014/main" id="{4CF594E9-44F1-FD34-C30D-6B7FB7B12425}"/>
              </a:ext>
            </a:extLst>
          </p:cNvPr>
          <p:cNvSpPr/>
          <p:nvPr/>
        </p:nvSpPr>
        <p:spPr>
          <a:xfrm rot="5400000" flipV="1">
            <a:off x="1240271" y="5201552"/>
            <a:ext cx="574161"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7D4F44A-C863-CC50-8168-714DD618C13B}"/>
              </a:ext>
            </a:extLst>
          </p:cNvPr>
          <p:cNvSpPr txBox="1"/>
          <p:nvPr/>
        </p:nvSpPr>
        <p:spPr>
          <a:xfrm>
            <a:off x="11289455" y="6248539"/>
            <a:ext cx="9332258" cy="344710"/>
          </a:xfrm>
          <a:prstGeom prst="rect">
            <a:avLst/>
          </a:prstGeom>
          <a:noFill/>
        </p:spPr>
        <p:txBody>
          <a:bodyPr wrap="square">
            <a:spAutoFit/>
          </a:bodyPr>
          <a:lstStyle/>
          <a:p>
            <a:pPr marR="0" lvl="0">
              <a:lnSpc>
                <a:spcPct val="115000"/>
              </a:lnSpc>
              <a:spcBef>
                <a:spcPts val="0"/>
              </a:spcBef>
              <a:spcAft>
                <a:spcPts val="800"/>
              </a:spcAft>
              <a:tabLst>
                <a:tab pos="457200" algn="l"/>
              </a:tabLst>
            </a:pPr>
            <a:r>
              <a:rPr lang="en-US" sz="1500" b="1" kern="100" dirty="0">
                <a:latin typeface="Aptos" panose="020B0004020202020204" pitchFamily="34" charset="0"/>
                <a:ea typeface="Aptos" panose="020B0004020202020204" pitchFamily="34" charset="0"/>
                <a:cs typeface="Times New Roman" panose="02020603050405020304" pitchFamily="18" charset="0"/>
              </a:rPr>
              <a:t>Promote longer-term contracts</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517051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1EB"/>
        </a:solidFill>
        <a:effectLst/>
      </p:bgPr>
    </p:bg>
    <p:spTree>
      <p:nvGrpSpPr>
        <p:cNvPr id="1" name="">
          <a:extLst>
            <a:ext uri="{FF2B5EF4-FFF2-40B4-BE49-F238E27FC236}">
              <a16:creationId xmlns:a16="http://schemas.microsoft.com/office/drawing/2014/main" id="{5DAC14D8-5C49-C6F9-AC7D-710495194B1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82D4D17-9A53-12F3-8C16-03EC05A255BE}"/>
              </a:ext>
            </a:extLst>
          </p:cNvPr>
          <p:cNvSpPr txBox="1"/>
          <p:nvPr/>
        </p:nvSpPr>
        <p:spPr>
          <a:xfrm>
            <a:off x="1658572" y="429905"/>
            <a:ext cx="13116793" cy="1200329"/>
          </a:xfrm>
          <a:prstGeom prst="rect">
            <a:avLst/>
          </a:prstGeom>
          <a:noFill/>
        </p:spPr>
        <p:txBody>
          <a:bodyPr wrap="square" rtlCol="0">
            <a:spAutoFit/>
          </a:bodyPr>
          <a:lstStyle/>
          <a:p>
            <a:r>
              <a:rPr lang="en-US" sz="3600" dirty="0"/>
              <a:t>Five Strategic Strategies to Reduce Customer Churn and Improve Retention</a:t>
            </a:r>
            <a:endParaRPr lang="en-US" sz="3600" dirty="0">
              <a:solidFill>
                <a:srgbClr val="14262A"/>
              </a:solidFill>
              <a:latin typeface="Amasis MT Pro Light" panose="02040304050005020304" pitchFamily="18" charset="0"/>
            </a:endParaRPr>
          </a:p>
        </p:txBody>
      </p:sp>
      <p:sp>
        <p:nvSpPr>
          <p:cNvPr id="5" name="Rectangle 4">
            <a:extLst>
              <a:ext uri="{FF2B5EF4-FFF2-40B4-BE49-F238E27FC236}">
                <a16:creationId xmlns:a16="http://schemas.microsoft.com/office/drawing/2014/main" id="{795610DF-0FDB-F54F-8BE8-9A760540667E}"/>
              </a:ext>
            </a:extLst>
          </p:cNvPr>
          <p:cNvSpPr/>
          <p:nvPr/>
        </p:nvSpPr>
        <p:spPr>
          <a:xfrm rot="5400000" flipV="1">
            <a:off x="1239275" y="738128"/>
            <a:ext cx="574161" cy="91440"/>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9149DFD-9D37-77B2-32CF-29F2D546B363}"/>
              </a:ext>
            </a:extLst>
          </p:cNvPr>
          <p:cNvSpPr/>
          <p:nvPr/>
        </p:nvSpPr>
        <p:spPr>
          <a:xfrm rot="5400000" flipV="1">
            <a:off x="1623561" y="1540438"/>
            <a:ext cx="3916909" cy="4202756"/>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90D2948-3581-0029-3353-0424A6F97DBF}"/>
              </a:ext>
            </a:extLst>
          </p:cNvPr>
          <p:cNvSpPr/>
          <p:nvPr/>
        </p:nvSpPr>
        <p:spPr>
          <a:xfrm rot="5400000" flipV="1">
            <a:off x="6026952" y="1538698"/>
            <a:ext cx="3916911" cy="4206240"/>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A363CE95-7897-0A92-36F3-7A28926627A7}"/>
              </a:ext>
            </a:extLst>
          </p:cNvPr>
          <p:cNvSpPr/>
          <p:nvPr/>
        </p:nvSpPr>
        <p:spPr>
          <a:xfrm rot="5400000" flipV="1">
            <a:off x="10428602" y="1538697"/>
            <a:ext cx="3916909" cy="4206240"/>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8744A9AA-5750-AE70-6C54-9EB92C0A8D6F}"/>
              </a:ext>
            </a:extLst>
          </p:cNvPr>
          <p:cNvSpPr/>
          <p:nvPr/>
        </p:nvSpPr>
        <p:spPr>
          <a:xfrm rot="5400000" flipV="1">
            <a:off x="2157631" y="5140434"/>
            <a:ext cx="2845287" cy="4206240"/>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2B54411-66AC-3C86-DD0D-5F3821EA7FEE}"/>
              </a:ext>
            </a:extLst>
          </p:cNvPr>
          <p:cNvSpPr/>
          <p:nvPr/>
        </p:nvSpPr>
        <p:spPr>
          <a:xfrm rot="5400000" flipV="1">
            <a:off x="6561023" y="5142177"/>
            <a:ext cx="2845286" cy="4202756"/>
          </a:xfrm>
          <a:prstGeom prst="rect">
            <a:avLst/>
          </a:prstGeom>
          <a:solidFill>
            <a:srgbClr val="EDE8E0"/>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B2A710D-5102-EFC8-0DE2-ECDD791A10DF}"/>
              </a:ext>
            </a:extLst>
          </p:cNvPr>
          <p:cNvSpPr txBox="1"/>
          <p:nvPr/>
        </p:nvSpPr>
        <p:spPr>
          <a:xfrm>
            <a:off x="1612089" y="3241004"/>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01.</a:t>
            </a:r>
          </a:p>
        </p:txBody>
      </p:sp>
      <p:sp>
        <p:nvSpPr>
          <p:cNvPr id="27" name="TextBox 26">
            <a:extLst>
              <a:ext uri="{FF2B5EF4-FFF2-40B4-BE49-F238E27FC236}">
                <a16:creationId xmlns:a16="http://schemas.microsoft.com/office/drawing/2014/main" id="{FCD8D145-7594-CCDC-83ED-E16C8D72C96F}"/>
              </a:ext>
            </a:extLst>
          </p:cNvPr>
          <p:cNvSpPr txBox="1"/>
          <p:nvPr/>
        </p:nvSpPr>
        <p:spPr>
          <a:xfrm>
            <a:off x="1834098" y="4008521"/>
            <a:ext cx="3747872" cy="1071191"/>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kern="100" dirty="0">
                <a:effectLst/>
                <a:latin typeface="Amasis MT Pro Light" panose="02040304050005020304" pitchFamily="18" charset="0"/>
                <a:ea typeface="Aptos" panose="020B0004020202020204" pitchFamily="34" charset="0"/>
                <a:cs typeface="Times New Roman" panose="02020603050405020304" pitchFamily="18" charset="0"/>
              </a:rPr>
              <a:t>by offering discounts, loyalty rewards, or bundled packages to substantially reduce churn among month-to-month subscribers</a:t>
            </a:r>
            <a:r>
              <a:rPr lang="en-US" sz="1400" kern="100" dirty="0">
                <a:latin typeface="Amasis MT Pro Light" panose="02040304050005020304" pitchFamily="18" charset="0"/>
                <a:ea typeface="Aptos" panose="020B0004020202020204" pitchFamily="34" charset="0"/>
                <a:cs typeface="Times New Roman" panose="02020603050405020304" pitchFamily="18" charset="0"/>
              </a:rPr>
              <a:t> and </a:t>
            </a:r>
            <a:r>
              <a:rPr lang="en-US" sz="1400" kern="100" dirty="0">
                <a:latin typeface="Amasis MT Pro Light" panose="02040304050005020304" pitchFamily="18" charset="0"/>
                <a:cs typeface="Times New Roman" panose="02020603050405020304" pitchFamily="18" charset="0"/>
              </a:rPr>
              <a:t>improve recurring revenue stability.</a:t>
            </a:r>
          </a:p>
        </p:txBody>
      </p:sp>
      <p:sp>
        <p:nvSpPr>
          <p:cNvPr id="28" name="TextBox 27">
            <a:extLst>
              <a:ext uri="{FF2B5EF4-FFF2-40B4-BE49-F238E27FC236}">
                <a16:creationId xmlns:a16="http://schemas.microsoft.com/office/drawing/2014/main" id="{92F82E08-0AD8-B236-27D4-914DC647CB07}"/>
              </a:ext>
            </a:extLst>
          </p:cNvPr>
          <p:cNvSpPr txBox="1"/>
          <p:nvPr/>
        </p:nvSpPr>
        <p:spPr>
          <a:xfrm>
            <a:off x="2283754" y="3290697"/>
            <a:ext cx="3245904" cy="60850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kern="100" dirty="0">
                <a:effectLst/>
                <a:latin typeface="Amasis MT Pro Light" panose="02040304050005020304" pitchFamily="18" charset="0"/>
                <a:ea typeface="Aptos" panose="020B0004020202020204" pitchFamily="34" charset="0"/>
                <a:cs typeface="Times New Roman" panose="02020603050405020304" pitchFamily="18" charset="0"/>
              </a:rPr>
              <a:t>Focus on converting month-to-month customers to longer-term contracts</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9" name="Rectangle 28">
            <a:extLst>
              <a:ext uri="{FF2B5EF4-FFF2-40B4-BE49-F238E27FC236}">
                <a16:creationId xmlns:a16="http://schemas.microsoft.com/office/drawing/2014/main" id="{9C34C300-BDC6-AEAC-7BAB-D91273E67032}"/>
              </a:ext>
            </a:extLst>
          </p:cNvPr>
          <p:cNvSpPr/>
          <p:nvPr/>
        </p:nvSpPr>
        <p:spPr>
          <a:xfrm rot="5400000" flipV="1">
            <a:off x="1342874" y="4543866"/>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06991F7F-5EF5-CE8A-CDF9-216DDBF8F991}"/>
              </a:ext>
            </a:extLst>
          </p:cNvPr>
          <p:cNvSpPr txBox="1"/>
          <p:nvPr/>
        </p:nvSpPr>
        <p:spPr>
          <a:xfrm>
            <a:off x="6032056" y="2386294"/>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02.</a:t>
            </a:r>
          </a:p>
        </p:txBody>
      </p:sp>
      <p:sp>
        <p:nvSpPr>
          <p:cNvPr id="31" name="TextBox 30">
            <a:extLst>
              <a:ext uri="{FF2B5EF4-FFF2-40B4-BE49-F238E27FC236}">
                <a16:creationId xmlns:a16="http://schemas.microsoft.com/office/drawing/2014/main" id="{E46863B6-75F0-6342-8118-35F21D63A97C}"/>
              </a:ext>
            </a:extLst>
          </p:cNvPr>
          <p:cNvSpPr txBox="1"/>
          <p:nvPr/>
        </p:nvSpPr>
        <p:spPr>
          <a:xfrm>
            <a:off x="6254065" y="3153811"/>
            <a:ext cx="3747872" cy="821892"/>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dirty="0"/>
              <a:t>Investigate fiber-optic churn by collecting customer feedback on pricing, network reliability, installation, and technical support.</a:t>
            </a:r>
            <a:endParaRPr lang="en-US" sz="1400" dirty="0">
              <a:latin typeface="Amasis MT Pro Light" panose="020403040500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852C3184-7D7E-C3B8-4FE6-46B8DAEAD0AC}"/>
              </a:ext>
            </a:extLst>
          </p:cNvPr>
          <p:cNvSpPr txBox="1"/>
          <p:nvPr/>
        </p:nvSpPr>
        <p:spPr>
          <a:xfrm>
            <a:off x="6747675" y="2600496"/>
            <a:ext cx="3245904" cy="361574"/>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600" b="1" dirty="0"/>
              <a:t>Investigate fiber-optic churn</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3" name="Rectangle 32">
            <a:extLst>
              <a:ext uri="{FF2B5EF4-FFF2-40B4-BE49-F238E27FC236}">
                <a16:creationId xmlns:a16="http://schemas.microsoft.com/office/drawing/2014/main" id="{2642B544-A16B-ED4B-1C77-D37F4CC2B72D}"/>
              </a:ext>
            </a:extLst>
          </p:cNvPr>
          <p:cNvSpPr/>
          <p:nvPr/>
        </p:nvSpPr>
        <p:spPr>
          <a:xfrm rot="5400000" flipV="1">
            <a:off x="5762841" y="3689156"/>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02A3152-6A32-4D40-E345-B289FFB18D83}"/>
              </a:ext>
            </a:extLst>
          </p:cNvPr>
          <p:cNvSpPr txBox="1"/>
          <p:nvPr/>
        </p:nvSpPr>
        <p:spPr>
          <a:xfrm>
            <a:off x="10452023" y="3112703"/>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03.</a:t>
            </a:r>
          </a:p>
        </p:txBody>
      </p:sp>
      <p:sp>
        <p:nvSpPr>
          <p:cNvPr id="35" name="TextBox 34">
            <a:extLst>
              <a:ext uri="{FF2B5EF4-FFF2-40B4-BE49-F238E27FC236}">
                <a16:creationId xmlns:a16="http://schemas.microsoft.com/office/drawing/2014/main" id="{9417E105-6CC2-97DC-C7E4-D062E7626922}"/>
              </a:ext>
            </a:extLst>
          </p:cNvPr>
          <p:cNvSpPr txBox="1"/>
          <p:nvPr/>
        </p:nvSpPr>
        <p:spPr>
          <a:xfrm>
            <a:off x="10674032" y="3880220"/>
            <a:ext cx="3747872" cy="57567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kern="100" dirty="0">
                <a:latin typeface="Aptos" panose="020B0004020202020204" pitchFamily="34" charset="0"/>
                <a:ea typeface="Aptos" panose="020B0004020202020204" pitchFamily="34" charset="0"/>
                <a:cs typeface="Times New Roman" panose="02020603050405020304" pitchFamily="18" charset="0"/>
              </a:rPr>
              <a:t>Promote Online Security packages* through discounts, bundles, or free trial periods.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6" name="TextBox 35">
            <a:extLst>
              <a:ext uri="{FF2B5EF4-FFF2-40B4-BE49-F238E27FC236}">
                <a16:creationId xmlns:a16="http://schemas.microsoft.com/office/drawing/2014/main" id="{E951D30A-5155-228E-DF59-2004961B8C16}"/>
              </a:ext>
            </a:extLst>
          </p:cNvPr>
          <p:cNvSpPr txBox="1"/>
          <p:nvPr/>
        </p:nvSpPr>
        <p:spPr>
          <a:xfrm>
            <a:off x="11140165" y="3298773"/>
            <a:ext cx="3245904" cy="343043"/>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dirty="0">
                <a:effectLst/>
                <a:latin typeface="Amasis MT Pro Light" panose="02040304050005020304" pitchFamily="18" charset="0"/>
                <a:ea typeface="Aptos" panose="020B0004020202020204" pitchFamily="34" charset="0"/>
                <a:cs typeface="Times New Roman" panose="02020603050405020304" pitchFamily="18" charset="0"/>
              </a:rPr>
              <a:t>Promote Online Security Package</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37" name="Rectangle 36">
            <a:extLst>
              <a:ext uri="{FF2B5EF4-FFF2-40B4-BE49-F238E27FC236}">
                <a16:creationId xmlns:a16="http://schemas.microsoft.com/office/drawing/2014/main" id="{FD2771ED-6933-3473-7446-E844D239D20A}"/>
              </a:ext>
            </a:extLst>
          </p:cNvPr>
          <p:cNvSpPr/>
          <p:nvPr/>
        </p:nvSpPr>
        <p:spPr>
          <a:xfrm rot="5400000" flipV="1">
            <a:off x="10182808" y="4415565"/>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C93B50B-C7A3-66DF-0FEA-E8ACF4F73441}"/>
              </a:ext>
            </a:extLst>
          </p:cNvPr>
          <p:cNvSpPr txBox="1"/>
          <p:nvPr/>
        </p:nvSpPr>
        <p:spPr>
          <a:xfrm>
            <a:off x="1658572" y="6595812"/>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04.</a:t>
            </a:r>
          </a:p>
        </p:txBody>
      </p:sp>
      <p:sp>
        <p:nvSpPr>
          <p:cNvPr id="39" name="TextBox 38">
            <a:extLst>
              <a:ext uri="{FF2B5EF4-FFF2-40B4-BE49-F238E27FC236}">
                <a16:creationId xmlns:a16="http://schemas.microsoft.com/office/drawing/2014/main" id="{16930F79-1C53-892D-E471-F42FCAE2A15D}"/>
              </a:ext>
            </a:extLst>
          </p:cNvPr>
          <p:cNvSpPr txBox="1"/>
          <p:nvPr/>
        </p:nvSpPr>
        <p:spPr>
          <a:xfrm>
            <a:off x="1880581" y="7363329"/>
            <a:ext cx="3747872" cy="57567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kern="100" dirty="0">
                <a:latin typeface="Aptos" panose="020B0004020202020204" pitchFamily="34" charset="0"/>
                <a:ea typeface="Aptos" panose="020B0004020202020204" pitchFamily="34" charset="0"/>
                <a:cs typeface="Times New Roman" panose="02020603050405020304" pitchFamily="18" charset="0"/>
              </a:rPr>
              <a:t>Create onboarding programs that engage new customers during their first few months.</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0" name="TextBox 39">
            <a:extLst>
              <a:ext uri="{FF2B5EF4-FFF2-40B4-BE49-F238E27FC236}">
                <a16:creationId xmlns:a16="http://schemas.microsoft.com/office/drawing/2014/main" id="{F2C9097F-1D6D-EDE2-5D9C-28C0B320E7B7}"/>
              </a:ext>
            </a:extLst>
          </p:cNvPr>
          <p:cNvSpPr txBox="1"/>
          <p:nvPr/>
        </p:nvSpPr>
        <p:spPr>
          <a:xfrm>
            <a:off x="2437490" y="6648133"/>
            <a:ext cx="3144480" cy="361574"/>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600" b="1" kern="100" dirty="0">
                <a:latin typeface="Aptos" panose="020B0004020202020204" pitchFamily="34" charset="0"/>
                <a:ea typeface="Aptos" panose="020B0004020202020204" pitchFamily="34" charset="0"/>
                <a:cs typeface="Times New Roman" panose="02020603050405020304" pitchFamily="18" charset="0"/>
              </a:rPr>
              <a:t>Create onboarding programs</a:t>
            </a:r>
            <a:endParaRPr lang="en-US" sz="1500" b="1"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1" name="Rectangle 40">
            <a:extLst>
              <a:ext uri="{FF2B5EF4-FFF2-40B4-BE49-F238E27FC236}">
                <a16:creationId xmlns:a16="http://schemas.microsoft.com/office/drawing/2014/main" id="{7B5EBC7A-78E5-5BE4-A39A-8C83AE379BB1}"/>
              </a:ext>
            </a:extLst>
          </p:cNvPr>
          <p:cNvSpPr/>
          <p:nvPr/>
        </p:nvSpPr>
        <p:spPr>
          <a:xfrm rot="5400000" flipV="1">
            <a:off x="1389357" y="7898674"/>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4E823D74-8CCF-79A4-6788-FD1EF5A84571}"/>
              </a:ext>
            </a:extLst>
          </p:cNvPr>
          <p:cNvSpPr txBox="1"/>
          <p:nvPr/>
        </p:nvSpPr>
        <p:spPr>
          <a:xfrm>
            <a:off x="6078109" y="6184866"/>
            <a:ext cx="1000467" cy="707886"/>
          </a:xfrm>
          <a:prstGeom prst="rect">
            <a:avLst/>
          </a:prstGeom>
          <a:noFill/>
        </p:spPr>
        <p:txBody>
          <a:bodyPr wrap="square" rtlCol="0">
            <a:spAutoFit/>
          </a:bodyPr>
          <a:lstStyle/>
          <a:p>
            <a:r>
              <a:rPr lang="en-US" sz="4000" b="1" dirty="0">
                <a:solidFill>
                  <a:srgbClr val="5099AA"/>
                </a:solidFill>
                <a:latin typeface="Oranienbaum" panose="02000506080000020003" pitchFamily="2" charset="0"/>
              </a:rPr>
              <a:t>05.</a:t>
            </a:r>
          </a:p>
        </p:txBody>
      </p:sp>
      <p:sp>
        <p:nvSpPr>
          <p:cNvPr id="43" name="TextBox 42">
            <a:extLst>
              <a:ext uri="{FF2B5EF4-FFF2-40B4-BE49-F238E27FC236}">
                <a16:creationId xmlns:a16="http://schemas.microsoft.com/office/drawing/2014/main" id="{A753D391-834E-5E4B-02A7-7F2CCD33E9CA}"/>
              </a:ext>
            </a:extLst>
          </p:cNvPr>
          <p:cNvSpPr txBox="1"/>
          <p:nvPr/>
        </p:nvSpPr>
        <p:spPr>
          <a:xfrm>
            <a:off x="6300118" y="6952383"/>
            <a:ext cx="3747872" cy="823431"/>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400" kern="100" dirty="0">
                <a:latin typeface="Aptos" panose="020B0004020202020204" pitchFamily="34" charset="0"/>
                <a:ea typeface="Aptos" panose="020B0004020202020204" pitchFamily="34" charset="0"/>
                <a:cs typeface="Times New Roman" panose="02020603050405020304" pitchFamily="18" charset="0"/>
              </a:rPr>
              <a:t>Monitor churn regularly by customer segment so ABC Communications can identify high-risk groups early and take preventive action.</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4" name="TextBox 43">
            <a:extLst>
              <a:ext uri="{FF2B5EF4-FFF2-40B4-BE49-F238E27FC236}">
                <a16:creationId xmlns:a16="http://schemas.microsoft.com/office/drawing/2014/main" id="{50DA9489-F708-A7C7-57FC-26D90CC61169}"/>
              </a:ext>
            </a:extLst>
          </p:cNvPr>
          <p:cNvSpPr txBox="1"/>
          <p:nvPr/>
        </p:nvSpPr>
        <p:spPr>
          <a:xfrm>
            <a:off x="6831391" y="6233564"/>
            <a:ext cx="3245904" cy="344710"/>
          </a:xfrm>
          <a:prstGeom prst="rect">
            <a:avLst/>
          </a:prstGeom>
          <a:noFill/>
        </p:spPr>
        <p:txBody>
          <a:bodyPr wrap="square" rtlCol="0">
            <a:spAutoFit/>
          </a:bodyPr>
          <a:lstStyle/>
          <a:p>
            <a:pPr marR="0" lvl="0">
              <a:lnSpc>
                <a:spcPct val="115000"/>
              </a:lnSpc>
              <a:spcBef>
                <a:spcPts val="0"/>
              </a:spcBef>
              <a:spcAft>
                <a:spcPts val="800"/>
              </a:spcAft>
              <a:tabLst>
                <a:tab pos="457200" algn="l"/>
              </a:tabLst>
            </a:pPr>
            <a:r>
              <a:rPr lang="en-US" sz="1500" b="1" kern="100" dirty="0">
                <a:effectLst/>
                <a:latin typeface="Aptos" panose="020B0004020202020204" pitchFamily="34" charset="0"/>
                <a:ea typeface="Aptos" panose="020B0004020202020204" pitchFamily="34" charset="0"/>
                <a:cs typeface="Times New Roman" panose="02020603050405020304" pitchFamily="18" charset="0"/>
              </a:rPr>
              <a:t>Monitor Churn Regularly </a:t>
            </a:r>
          </a:p>
        </p:txBody>
      </p:sp>
      <p:sp>
        <p:nvSpPr>
          <p:cNvPr id="45" name="Rectangle 44">
            <a:extLst>
              <a:ext uri="{FF2B5EF4-FFF2-40B4-BE49-F238E27FC236}">
                <a16:creationId xmlns:a16="http://schemas.microsoft.com/office/drawing/2014/main" id="{6EB226B3-81CD-2651-ED18-8405EB5B6DD2}"/>
              </a:ext>
            </a:extLst>
          </p:cNvPr>
          <p:cNvSpPr/>
          <p:nvPr/>
        </p:nvSpPr>
        <p:spPr>
          <a:xfrm rot="5400000" flipV="1">
            <a:off x="5808894" y="7487728"/>
            <a:ext cx="850392" cy="27432"/>
          </a:xfrm>
          <a:prstGeom prst="rect">
            <a:avLst/>
          </a:prstGeom>
          <a:solidFill>
            <a:srgbClr val="5099AA"/>
          </a:solidFill>
          <a:ln>
            <a:noFill/>
          </a:ln>
          <a:effectLst>
            <a:outerShdw blurRad="50800" dist="381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9779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B25984-9AC4-8A99-7272-DCFB945BA2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6" y="0"/>
            <a:ext cx="16242888" cy="9144000"/>
          </a:xfrm>
          <a:prstGeom prst="rect">
            <a:avLst/>
          </a:prstGeom>
        </p:spPr>
      </p:pic>
      <p:sp>
        <p:nvSpPr>
          <p:cNvPr id="4" name="Rectangle 3">
            <a:extLst>
              <a:ext uri="{FF2B5EF4-FFF2-40B4-BE49-F238E27FC236}">
                <a16:creationId xmlns:a16="http://schemas.microsoft.com/office/drawing/2014/main" id="{BD6418C3-3E3D-F973-0F8E-BCF2BBB5AD8B}"/>
              </a:ext>
            </a:extLst>
          </p:cNvPr>
          <p:cNvSpPr/>
          <p:nvPr/>
        </p:nvSpPr>
        <p:spPr>
          <a:xfrm>
            <a:off x="-14738" y="0"/>
            <a:ext cx="16285464" cy="9144000"/>
          </a:xfrm>
          <a:prstGeom prst="rect">
            <a:avLst/>
          </a:prstGeom>
          <a:gradFill flip="none" rotWithShape="1">
            <a:gsLst>
              <a:gs pos="50000">
                <a:srgbClr val="14262A">
                  <a:alpha val="91000"/>
                </a:srgbClr>
              </a:gs>
              <a:gs pos="0">
                <a:srgbClr val="14262A">
                  <a:alpha val="90000"/>
                </a:srgbClr>
              </a:gs>
              <a:gs pos="100000">
                <a:srgbClr val="14262A">
                  <a:alpha val="94902"/>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772BAB4-74F4-16E9-6752-3E8E51628603}"/>
              </a:ext>
            </a:extLst>
          </p:cNvPr>
          <p:cNvSpPr txBox="1"/>
          <p:nvPr/>
        </p:nvSpPr>
        <p:spPr>
          <a:xfrm>
            <a:off x="2290187" y="3132948"/>
            <a:ext cx="12430142" cy="1015663"/>
          </a:xfrm>
          <a:prstGeom prst="rect">
            <a:avLst/>
          </a:prstGeom>
          <a:noFill/>
        </p:spPr>
        <p:txBody>
          <a:bodyPr wrap="square" rtlCol="0">
            <a:spAutoFit/>
          </a:bodyPr>
          <a:lstStyle/>
          <a:p>
            <a:pPr algn="ctr"/>
            <a:r>
              <a:rPr lang="en-US" sz="6000" b="1" dirty="0">
                <a:solidFill>
                  <a:schemeClr val="bg1"/>
                </a:solidFill>
                <a:latin typeface="Amasis MT Pro Light" panose="02040304050005020304" pitchFamily="18" charset="0"/>
              </a:rPr>
              <a:t>From Insights to Impact</a:t>
            </a:r>
          </a:p>
        </p:txBody>
      </p:sp>
      <p:sp>
        <p:nvSpPr>
          <p:cNvPr id="10" name="Rectangle 9">
            <a:extLst>
              <a:ext uri="{FF2B5EF4-FFF2-40B4-BE49-F238E27FC236}">
                <a16:creationId xmlns:a16="http://schemas.microsoft.com/office/drawing/2014/main" id="{1209BBD8-3BDC-4A36-C248-B7D83467B8FF}"/>
              </a:ext>
            </a:extLst>
          </p:cNvPr>
          <p:cNvSpPr/>
          <p:nvPr/>
        </p:nvSpPr>
        <p:spPr>
          <a:xfrm rot="5400000" flipV="1">
            <a:off x="3947887" y="3572814"/>
            <a:ext cx="1015665" cy="135929"/>
          </a:xfrm>
          <a:prstGeom prst="rect">
            <a:avLst/>
          </a:prstGeom>
          <a:solidFill>
            <a:srgbClr val="5099AA">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B062269-4350-A6D6-241C-45D9BBB5B66D}"/>
              </a:ext>
            </a:extLst>
          </p:cNvPr>
          <p:cNvSpPr/>
          <p:nvPr/>
        </p:nvSpPr>
        <p:spPr>
          <a:xfrm>
            <a:off x="7177020" y="6630483"/>
            <a:ext cx="1901952" cy="9144"/>
          </a:xfrm>
          <a:prstGeom prst="rect">
            <a:avLst/>
          </a:prstGeom>
          <a:solidFill>
            <a:schemeClr val="bg1">
              <a:lumMod val="85000"/>
              <a:alpha val="3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66BA2A21-5D96-8F94-D33C-06AE4D1FEB78}"/>
              </a:ext>
            </a:extLst>
          </p:cNvPr>
          <p:cNvSpPr txBox="1"/>
          <p:nvPr/>
        </p:nvSpPr>
        <p:spPr>
          <a:xfrm>
            <a:off x="4684480" y="4625608"/>
            <a:ext cx="8368132" cy="707886"/>
          </a:xfrm>
          <a:prstGeom prst="rect">
            <a:avLst/>
          </a:prstGeom>
          <a:noFill/>
        </p:spPr>
        <p:txBody>
          <a:bodyPr wrap="square" rtlCol="0">
            <a:spAutoFit/>
          </a:bodyPr>
          <a:lstStyle/>
          <a:p>
            <a:pPr algn="ctr"/>
            <a:r>
              <a:rPr lang="en-US" sz="2000" dirty="0">
                <a:solidFill>
                  <a:schemeClr val="bg1"/>
                </a:solidFill>
              </a:rPr>
              <a:t>By leveraging customer data effectively, this study demonstrates how analytics can inform smarter strategies and enhance customer retention.</a:t>
            </a:r>
            <a:endParaRPr lang="en-US" sz="2000" dirty="0">
              <a:solidFill>
                <a:schemeClr val="bg1"/>
              </a:solidFill>
              <a:latin typeface="Amasis MT Pro Light" panose="02040304050005020304" pitchFamily="18" charset="0"/>
              <a:ea typeface="Calibri Light" panose="020F0302020204030204" pitchFamily="34" charset="0"/>
              <a:cs typeface="Calibri Light" panose="020F0302020204030204" pitchFamily="34" charset="0"/>
            </a:endParaRPr>
          </a:p>
        </p:txBody>
      </p:sp>
      <p:sp>
        <p:nvSpPr>
          <p:cNvPr id="6" name="TextBox 5">
            <a:extLst>
              <a:ext uri="{FF2B5EF4-FFF2-40B4-BE49-F238E27FC236}">
                <a16:creationId xmlns:a16="http://schemas.microsoft.com/office/drawing/2014/main" id="{594DE7C5-D3F7-ABC4-CB52-FE8F5284F3B1}"/>
              </a:ext>
            </a:extLst>
          </p:cNvPr>
          <p:cNvSpPr txBox="1"/>
          <p:nvPr/>
        </p:nvSpPr>
        <p:spPr>
          <a:xfrm>
            <a:off x="4300666" y="5572681"/>
            <a:ext cx="7641555" cy="338554"/>
          </a:xfrm>
          <a:prstGeom prst="rect">
            <a:avLst/>
          </a:prstGeom>
          <a:noFill/>
        </p:spPr>
        <p:txBody>
          <a:bodyPr wrap="square" rtlCol="0">
            <a:spAutoFit/>
          </a:bodyPr>
          <a:lstStyle/>
          <a:p>
            <a:pPr algn="ctr"/>
            <a:r>
              <a:rPr lang="en-US" sz="1600" dirty="0">
                <a:solidFill>
                  <a:schemeClr val="bg1"/>
                </a:solidFill>
                <a:latin typeface="Amasis MT Pro Light" panose="02040304050005020304" pitchFamily="18" charset="0"/>
                <a:ea typeface="Calibri Light" panose="020F0302020204030204" pitchFamily="34" charset="0"/>
                <a:cs typeface="Calibri Light" panose="020F0302020204030204" pitchFamily="34" charset="0"/>
              </a:rPr>
              <a:t>THANK YOU</a:t>
            </a:r>
          </a:p>
        </p:txBody>
      </p:sp>
    </p:spTree>
    <p:extLst>
      <p:ext uri="{BB962C8B-B14F-4D97-AF65-F5344CB8AC3E}">
        <p14:creationId xmlns:p14="http://schemas.microsoft.com/office/powerpoint/2010/main" val="18163650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1795</TotalTime>
  <Words>838</Words>
  <Application>Microsoft Office PowerPoint</Application>
  <PresentationFormat>Custom</PresentationFormat>
  <Paragraphs>99</Paragraphs>
  <Slides>13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Amasis MT Pro Light</vt:lpstr>
      <vt:lpstr>Aptos</vt:lpstr>
      <vt:lpstr>Aptos Display</vt:lpstr>
      <vt:lpstr>Arial</vt:lpstr>
      <vt:lpstr>Calibri</vt:lpstr>
      <vt:lpstr>Calibri Light</vt:lpstr>
      <vt:lpstr>Cambria</vt:lpstr>
      <vt:lpstr>Oranienbaum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Immanuel Chukwudubem</dc:creator>
  <cp:lastModifiedBy>SAMART</cp:lastModifiedBy>
  <cp:revision>31</cp:revision>
  <dcterms:created xsi:type="dcterms:W3CDTF">2026-08-04T07:42:39Z</dcterms:created>
  <dcterms:modified xsi:type="dcterms:W3CDTF">2026-08-09T14:02:58Z</dcterms:modified>
</cp:coreProperties>
</file>